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00000" y="3600000"/>
            <a:ext cx="2200000" cy="2200000"/>
          </a:xfrm>
          <a:prstGeom prst="ellipse">
            <a:avLst/>
          </a:prstGeom>
          <a:solidFill>
            <a:srgbClr val="2DD4B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00000" y="5000000"/>
            <a:ext cx="1400000" cy="1400000"/>
          </a:xfrm>
          <a:prstGeom prst="ellipse">
            <a:avLst/>
          </a:prstGeom>
          <a:solidFill>
            <a:srgbClr val="14B8A6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00000" y="5000000"/>
            <a:ext cx="1000000" cy="1000000"/>
          </a:xfrm>
          <a:prstGeom prst="ellipse">
            <a:avLst/>
          </a:prstGeom>
          <a:solidFill>
            <a:srgbClr val="2DD4B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0000" y="1800000"/>
            <a:ext cx="57600" cy="2300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223200"/>
            <a:ext cx="64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onsolas"/>
              </a:defRPr>
            </a:pPr>
            <a:r>
              <a:t>科研项目展示 · 网站 Demo 主导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6000" y="306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64748B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1800000"/>
            <a:ext cx="684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1F5F9"/>
                </a:solidFill>
                <a:latin typeface="Segoe UI"/>
              </a:defRPr>
            </a:pPr>
            <a:r>
              <a:t>CAR-M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898000"/>
            <a:ext cx="72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  <a:latin typeface="Segoe UI"/>
              </a:defRPr>
            </a:pPr>
            <a:r>
              <a:t>用于探索 CAR-engineered macrophage 在肿瘤微环境中行为动态的机制启发型 Web 平台。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690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AI Virtual Cell Platform · Computational Immunology &amp; Systems Biology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04000" y="1728000"/>
            <a:ext cx="2664000" cy="23000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74000" y="2400000"/>
            <a:ext cx="212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D4BF"/>
                </a:solidFill>
                <a:latin typeface="Consolas"/>
              </a:defRPr>
            </a:pPr>
            <a:r>
              <a:t>ABM | TME | CAR-M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000" y="5400000"/>
            <a:ext cx="10300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bgPr>
      <a:gradFill flip="none" rotWithShape="1">
        <a:gsLst>
          <a:gs pos="0">
            <a:srgbClr val="0A1628"/>
          </a:gs>
          <a:gs pos="400">
            <a:srgbClr val="0F1D32"/>
          </a:gs>
          <a:gs pos="1000">
            <a:srgbClr val="1E293B"/>
          </a:gs>
        </a:gsLst>
        <a:lin ang="8100000" scaled="1"/>
      </a:gradFill>
    </p:bgPr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00000" y="3800000"/>
            <a:ext cx="1800000" cy="1800000"/>
          </a:xfrm>
          <a:prstGeom prst="ellipse">
            <a:avLst/>
          </a:prstGeom>
          <a:solidFill>
            <a:srgbClr val="0D948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00000" y="4800000"/>
            <a:ext cx="1200000" cy="12000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0000" y="255000"/>
            <a:ext cx="90000" cy="90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200000"/>
            <a:ext cx="64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Consolas"/>
              </a:defRPr>
            </a:pPr>
            <a:r>
              <a:t>背景问题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20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64748B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500000"/>
            <a:ext cx="892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  <a:latin typeface="Segoe UI"/>
              </a:defRPr>
            </a:pPr>
            <a:r>
              <a:t>实体瘤免疫治疗的建模问题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278000"/>
            <a:ext cx="864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1800" b="0">
                <a:solidFill>
                  <a:srgbClr val="334155"/>
                </a:solidFill>
                <a:latin typeface="Segoe UI"/>
              </a:defRPr>
            </a:pPr>
            <a:r>
              <a:t>CAR-T 在实体瘤中常受限于浸润不足、免疫抑制性 TME、抗原异质性和毒性管理。</a:t>
            </a:r>
            <a:br/>
            <a:r>
              <a:t>CAR-M 的价值在于：它天然进入实体组织，并同时承担吞噬、抗原呈递与微环境重塑。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2400000"/>
            <a:ext cx="3400000" cy="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000" y="2600000"/>
            <a:ext cx="4000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000" y="275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9488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000" y="3150000"/>
            <a:ext cx="3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障碍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000" y="3600000"/>
            <a:ext cx="3000000" cy="-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Segoe UI"/>
              </a:defRPr>
            </a:pPr>
            <a:r>
              <a:t>抑制性细胞因子、低氧/乳酸、ECM 屏障会改变免疫细胞行为。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000" y="3300000"/>
            <a:ext cx="3400000" cy="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000" y="3500000"/>
            <a:ext cx="4000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000" y="365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9488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000" y="4050000"/>
            <a:ext cx="3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机会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000" y="4500000"/>
            <a:ext cx="3000000" cy="-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Segoe UI"/>
              </a:defRPr>
            </a:pPr>
            <a:r>
              <a:t>巨噬细胞的极化状态和吞噬概率可以被工程化设计影响。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4200000"/>
            <a:ext cx="3400000" cy="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000" y="4400000"/>
            <a:ext cx="4000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000" y="455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948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000" y="4950000"/>
            <a:ext cx="3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展示目标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000" y="5400000"/>
            <a:ext cx="3000000" cy="-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Segoe UI"/>
              </a:defRPr>
            </a:pPr>
            <a:r>
              <a:t>把机制假设转成可以调参、运行、比较的交互系统。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0000" y="2400000"/>
            <a:ext cx="4800000" cy="2600000"/>
          </a:xfrm>
          <a:prstGeom prst="roundRect">
            <a:avLst>
              <a:gd name="adj" fmla="val 8000"/>
            </a:avLst>
          </a:prstGeom>
          <a:solidFill>
            <a:srgbClr val="0D948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00000" y="2580000"/>
            <a:ext cx="4800000" cy="2600000"/>
          </a:xfrm>
          <a:prstGeom prst="roundRect">
            <a:avLst>
              <a:gd name="adj" fmla="val 8000"/>
            </a:avLst>
          </a:prstGeom>
          <a:solidFill>
            <a:srgbClr val="0D948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00000" y="2760000"/>
            <a:ext cx="4800000" cy="2600000"/>
          </a:xfrm>
          <a:prstGeom prst="roundRect">
            <a:avLst>
              <a:gd name="adj" fmla="val 8000"/>
            </a:avLst>
          </a:prstGeom>
          <a:solidFill>
            <a:srgbClr val="0D9488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bgPr>
      <a:gradFill flip="none" rotWithShape="1">
        <a:gsLst>
          <a:gs pos="0">
            <a:srgbClr val="F0F4F8"/>
          </a:gs>
          <a:gs pos="500">
            <a:srgbClr val="E2E8F0"/>
          </a:gs>
          <a:gs pos="1000">
            <a:srgbClr val="F8FAFC"/>
          </a:gs>
        </a:gsLst>
        <a:lin ang="8100000" scaled="1"/>
      </a:gradFill>
    </p:bgPr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00000" y="3600000"/>
            <a:ext cx="2200000" cy="2200000"/>
          </a:xfrm>
          <a:prstGeom prst="ellipse">
            <a:avLst/>
          </a:prstGeom>
          <a:solidFill>
            <a:srgbClr val="2DD4B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00000" y="5000000"/>
            <a:ext cx="1400000" cy="1400000"/>
          </a:xfrm>
          <a:prstGeom prst="ellipse">
            <a:avLst/>
          </a:prstGeom>
          <a:solidFill>
            <a:srgbClr val="14B8A6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00000" y="5000000"/>
            <a:ext cx="1000000" cy="1000000"/>
          </a:xfrm>
          <a:prstGeom prst="ellipse">
            <a:avLst/>
          </a:prstGeom>
          <a:solidFill>
            <a:srgbClr val="2DD4B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000" y="255000"/>
            <a:ext cx="90000" cy="900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200000"/>
            <a:ext cx="64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onsolas"/>
              </a:defRPr>
            </a:pPr>
            <a:r>
              <a:t>核心定位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20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64748B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40000" y="1512000"/>
            <a:ext cx="9288000" cy="24480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28000" y="1872000"/>
            <a:ext cx="871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1F5F9"/>
                </a:solidFill>
                <a:latin typeface="Segoe UI"/>
              </a:defRPr>
            </a:pPr>
            <a:r>
              <a:t>机制趋势，不是临床预测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4000" y="2844000"/>
            <a:ext cx="82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defRPr sz="2000" b="0">
                <a:solidFill>
                  <a:srgbClr val="CBD5E1"/>
                </a:solidFill>
                <a:latin typeface="Segoe UI"/>
              </a:defRPr>
            </a:pPr>
            <a:r>
              <a:t>平台把 CAR 设计、TME 条件、细胞行为和实时指标连接起来，</a:t>
            </a:r>
            <a:br/>
            <a:r>
              <a:t>用于比较机制趋势，而不是替代实验或临床判断。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0000" y="4100000"/>
            <a:ext cx="2000000" cy="25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bgPr>
      <a:gradFill flip="none" rotWithShape="1">
        <a:gsLst>
          <a:gs pos="0">
            <a:srgbClr val="0A1628"/>
          </a:gs>
          <a:gs pos="400">
            <a:srgbClr val="0F1D32"/>
          </a:gs>
          <a:gs pos="1000">
            <a:srgbClr val="1E293B"/>
          </a:gs>
        </a:gsLst>
        <a:lin ang="8100000" scaled="1"/>
      </a:gradFill>
    </p:bgPr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00000" y="3800000"/>
            <a:ext cx="1800000" cy="1800000"/>
          </a:xfrm>
          <a:prstGeom prst="ellipse">
            <a:avLst/>
          </a:prstGeom>
          <a:solidFill>
            <a:srgbClr val="0D948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00000" y="4800000"/>
            <a:ext cx="1200000" cy="12000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0000" y="255000"/>
            <a:ext cx="90000" cy="90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200000"/>
            <a:ext cx="64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Consolas"/>
              </a:defRPr>
            </a:pPr>
            <a:r>
              <a:t>现场网站怎么看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20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64748B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500000"/>
            <a:ext cx="892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  <a:latin typeface="Segoe UI"/>
              </a:defRPr>
            </a:pPr>
            <a:r>
              <a:t>Demo 时请盯住三个变化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1600000"/>
            <a:ext cx="3400000" cy="22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000" y="1800000"/>
            <a:ext cx="4000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000" y="195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9488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2350000"/>
            <a:ext cx="3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细胞行为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000" y="2800000"/>
            <a:ext cx="3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Segoe UI"/>
              </a:defRPr>
            </a:pPr>
            <a:r>
              <a:t>CAR-M、肿瘤细胞、野生型巨噬细胞和 CD8+ T 细胞在同一 TME 中实时运动、相互作用。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40000" y="1600000"/>
            <a:ext cx="3400000" cy="22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0000" y="1800000"/>
            <a:ext cx="40000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0000" y="195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748B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0000" y="2350000"/>
            <a:ext cx="3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模型输入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0000" y="2800000"/>
            <a:ext cx="3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Segoe UI"/>
              </a:defRPr>
            </a:pPr>
            <a:r>
              <a:t>CAR 信号域、抗原、亲和力、CD47/SIRPα 阻断和 TME 条件会改变模拟输入。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40000" y="1600000"/>
            <a:ext cx="3400000" cy="22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40000" y="1800000"/>
            <a:ext cx="40000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0000" y="195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748B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0000" y="2350000"/>
            <a:ext cx="3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结果反馈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0000" y="2800000"/>
            <a:ext cx="3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Segoe UI"/>
              </a:defRPr>
            </a:pPr>
            <a:r>
              <a:t>Dashboard 追踪肿瘤数量、吞噬率、M1/M2 比例和 CD8+ T 细胞活化趋势。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000" y="4200000"/>
            <a:ext cx="10800000" cy="450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000" y="4260000"/>
            <a:ext cx="10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切网站：进入 Simulation Workbench，先播放默认场景，再打开右侧 Metrics 面板。</a:t>
            </a:r>
          </a:p>
        </p:txBody>
      </p:sp>
    </p:spTree>
    <p:bgPr>
      <a:gradFill flip="none" rotWithShape="1">
        <a:gsLst>
          <a:gs pos="0">
            <a:srgbClr val="F0F4F8"/>
          </a:gs>
          <a:gs pos="500">
            <a:srgbClr val="E2E8F0"/>
          </a:gs>
          <a:gs pos="1000">
            <a:srgbClr val="F8FAFC"/>
          </a:gs>
        </a:gsLst>
        <a:lin ang="8100000" scaled="1"/>
      </a:gradFill>
    </p:bgPr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00000" y="3600000"/>
            <a:ext cx="2200000" cy="2200000"/>
          </a:xfrm>
          <a:prstGeom prst="ellipse">
            <a:avLst/>
          </a:prstGeom>
          <a:solidFill>
            <a:srgbClr val="2DD4B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00000" y="5000000"/>
            <a:ext cx="1400000" cy="1400000"/>
          </a:xfrm>
          <a:prstGeom prst="ellipse">
            <a:avLst/>
          </a:prstGeom>
          <a:solidFill>
            <a:srgbClr val="14B8A6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00000" y="5000000"/>
            <a:ext cx="1000000" cy="1000000"/>
          </a:xfrm>
          <a:prstGeom prst="ellipse">
            <a:avLst/>
          </a:prstGeom>
          <a:solidFill>
            <a:srgbClr val="2DD4B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000" y="255000"/>
            <a:ext cx="90000" cy="900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200000"/>
            <a:ext cx="64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onsolas"/>
              </a:defRPr>
            </a:pPr>
            <a:r>
              <a:t>系统架构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20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64748B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500000"/>
            <a:ext cx="892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1F5F9"/>
                </a:solidFill>
                <a:latin typeface="Segoe UI"/>
              </a:defRPr>
            </a:pPr>
            <a:r>
              <a:t>四层把生物知识、机器学习和可交互模拟接起来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2000000"/>
            <a:ext cx="2600000" cy="22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000" y="2250000"/>
            <a:ext cx="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26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Data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000" y="3050000"/>
            <a:ext cx="22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scRNA-seq / TAM atlas / 通路与结构参考。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0000" y="2000000"/>
            <a:ext cx="2600000" cy="22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0000" y="2250000"/>
            <a:ext cx="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0000" y="26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AI / ML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0000" y="3050000"/>
            <a:ext cx="22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scVI + CellForge 思路 + surrogate。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0000" y="2000000"/>
            <a:ext cx="2600000" cy="22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0000" y="2250000"/>
            <a:ext cx="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0000" y="26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Simulation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0000" y="3050000"/>
            <a:ext cx="22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ABM、扩散场、极化 ODE、吞噬概率。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0000" y="2000000"/>
            <a:ext cx="2600000" cy="22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0000" y="2250000"/>
            <a:ext cx="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0000" y="26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Application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0000" y="3050000"/>
            <a:ext cx="22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React、Canvas / Three.js、Chart.js。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4700000"/>
            <a:ext cx="1044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切网站：打开 AI 面板，运行 parameter sweep，说明这是为了实时交互而做的工程折中。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180000" y="3100000"/>
            <a:ext cx="120000" cy="60000"/>
          </a:xfrm>
          <a:prstGeom prst="rightArrow">
            <a:avLst/>
          </a:prstGeom>
          <a:solidFill>
            <a:srgbClr val="2DD4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5980000" y="3100000"/>
            <a:ext cx="120000" cy="60000"/>
          </a:xfrm>
          <a:prstGeom prst="rightArrow">
            <a:avLst/>
          </a:prstGeom>
          <a:solidFill>
            <a:srgbClr val="2DD4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8780000" y="3100000"/>
            <a:ext cx="120000" cy="60000"/>
          </a:xfrm>
          <a:prstGeom prst="rightArrow">
            <a:avLst/>
          </a:prstGeom>
          <a:solidFill>
            <a:srgbClr val="2DD4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bgPr>
      <a:gradFill flip="none" rotWithShape="1">
        <a:gsLst>
          <a:gs pos="0">
            <a:srgbClr val="0A1628"/>
          </a:gs>
          <a:gs pos="400">
            <a:srgbClr val="0F1D32"/>
          </a:gs>
          <a:gs pos="1000">
            <a:srgbClr val="1E293B"/>
          </a:gs>
        </a:gsLst>
        <a:lin ang="8100000" scaled="1"/>
      </a:gradFill>
    </p:bgPr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00000" y="3800000"/>
            <a:ext cx="1800000" cy="1800000"/>
          </a:xfrm>
          <a:prstGeom prst="ellipse">
            <a:avLst/>
          </a:prstGeom>
          <a:solidFill>
            <a:srgbClr val="0D948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00000" y="4800000"/>
            <a:ext cx="1200000" cy="12000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0000" y="255000"/>
            <a:ext cx="90000" cy="90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200000"/>
            <a:ext cx="64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Consolas"/>
              </a:defRPr>
            </a:pPr>
            <a:r>
              <a:t>临床背景锚点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20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64748B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000000"/>
            <a:ext cx="432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0D9488"/>
                </a:solidFill>
                <a:latin typeface="Georgia"/>
              </a:defRPr>
            </a:pPr>
            <a:r>
              <a:t>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500000"/>
            <a:ext cx="612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defRPr sz="2000" b="0">
                <a:solidFill>
                  <a:srgbClr val="334155"/>
                </a:solidFill>
                <a:latin typeface="Segoe UI"/>
              </a:defRPr>
            </a:pPr>
            <a:r>
              <a:t>CT-0508 早期报告中 Grade ≥3 CRS 为 0%；</a:t>
            </a:r>
            <a:br/>
            <a:r>
              <a:t>本项目只把这些结果作为临床背景和场景设计参考。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000000"/>
            <a:ext cx="2400000" cy="1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410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455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patients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0000" y="4000000"/>
            <a:ext cx="2400000" cy="1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0000" y="410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Consolas"/>
              </a:defRPr>
            </a:pPr>
            <a: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0000" y="455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CRS ≥G3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20000" y="4000000"/>
            <a:ext cx="2400000" cy="1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20000" y="410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Consolas"/>
              </a:defRPr>
            </a:pPr>
            <a:r>
              <a:t>44%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0000" y="455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stable disease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20000" y="4000000"/>
            <a:ext cx="2400000" cy="1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0000" y="410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Consolas"/>
              </a:defRPr>
            </a:pPr>
            <a:r>
              <a:t>-20%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0000" y="455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best response</a:t>
            </a:r>
          </a:p>
        </p:txBody>
      </p:sp>
    </p:spTree>
    <p:bgPr>
      <a:gradFill flip="none" rotWithShape="1">
        <a:gsLst>
          <a:gs pos="0">
            <a:srgbClr val="F0F4F8"/>
          </a:gs>
          <a:gs pos="500">
            <a:srgbClr val="E2E8F0"/>
          </a:gs>
          <a:gs pos="1000">
            <a:srgbClr val="F8FAFC"/>
          </a:gs>
        </a:gsLst>
        <a:lin ang="8100000" scaled="1"/>
      </a:gradFill>
    </p:bgPr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00000" y="3800000"/>
            <a:ext cx="1800000" cy="1800000"/>
          </a:xfrm>
          <a:prstGeom prst="ellipse">
            <a:avLst/>
          </a:prstGeom>
          <a:solidFill>
            <a:srgbClr val="0D948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00000" y="4800000"/>
            <a:ext cx="1200000" cy="1200000"/>
          </a:xfrm>
          <a:prstGeom prst="ellipse">
            <a:avLst/>
          </a:prstGeom>
          <a:solidFill>
            <a:srgbClr val="14B8A6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0000" y="255000"/>
            <a:ext cx="90000" cy="90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200000"/>
            <a:ext cx="64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Consolas"/>
              </a:defRPr>
            </a:pPr>
            <a:r>
              <a:t>演示路线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0" y="20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64748B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500000"/>
            <a:ext cx="892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  <a:latin typeface="Segoe UI"/>
              </a:defRPr>
            </a:pPr>
            <a:r>
              <a:t>按基线到调参再到对比的路线走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1600000"/>
            <a:ext cx="5100000" cy="2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000" y="1800000"/>
            <a:ext cx="4000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000" y="195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9488"/>
                </a:solidFill>
                <a:latin typeface="Georgia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2350000"/>
            <a:ext cx="4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先建立共同语境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000" y="2800000"/>
            <a:ext cx="47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Segoe UI"/>
              </a:defRPr>
            </a:pPr>
            <a:r>
              <a:t>运行 CT-0508-inspired baseline，展示默认细胞组成、CAR-M 数量、肿瘤细胞数量、TGF-β 和随机种子。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0000" y="1600000"/>
            <a:ext cx="5100000" cy="2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l" rotWithShape="0">
              <a:srgbClr val="0A162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20000" y="1800000"/>
            <a:ext cx="40000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0000" y="195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4748B"/>
                </a:solidFill>
                <a:latin typeface="Georgia"/>
              </a:defRPr>
            </a:pPr>
            <a: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0000" y="2350000"/>
            <a:ext cx="4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再证明可探索性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0000" y="2800000"/>
            <a:ext cx="47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Segoe UI"/>
              </a:defRPr>
            </a:pPr>
            <a:r>
              <a:t>切到 CAR-M Designer、Preset Scenarios 或 Compare，展示 HER2-low、CD147 ECM degradation、cold tumor 等情境如何改变趋势。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740000" y="2700000"/>
            <a:ext cx="280000" cy="120000"/>
          </a:xfrm>
          <a:prstGeom prst="rightArrow">
            <a:avLst/>
          </a:prstGeom>
          <a:solidFill>
            <a:srgbClr val="0D948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0000" y="4400000"/>
            <a:ext cx="10800000" cy="4500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000" y="4460000"/>
            <a:ext cx="10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切网站：Scenarios → CAR-M → Metrics → Compare。每步只讲输入改变了什么、指标如何响应。</a:t>
            </a:r>
          </a:p>
        </p:txBody>
      </p:sp>
    </p:spTree>
    <p:bgPr>
      <a:gradFill flip="none" rotWithShape="1">
        <a:gsLst>
          <a:gs pos="0">
            <a:srgbClr val="F0F4F8"/>
          </a:gs>
          <a:gs pos="500">
            <a:srgbClr val="E2E8F0"/>
          </a:gs>
          <a:gs pos="1000">
            <a:srgbClr val="F8FAFC"/>
          </a:gs>
        </a:gsLst>
        <a:lin ang="8100000" scaled="1"/>
      </a:gradFill>
    </p:bgPr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00000" y="3600000"/>
            <a:ext cx="2200000" cy="2200000"/>
          </a:xfrm>
          <a:prstGeom prst="ellipse">
            <a:avLst/>
          </a:prstGeom>
          <a:solidFill>
            <a:srgbClr val="2DD4B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00000" y="5000000"/>
            <a:ext cx="1400000" cy="1400000"/>
          </a:xfrm>
          <a:prstGeom prst="ellipse">
            <a:avLst/>
          </a:prstGeom>
          <a:solidFill>
            <a:srgbClr val="14B8A6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00000" y="5000000"/>
            <a:ext cx="1000000" cy="1000000"/>
          </a:xfrm>
          <a:prstGeom prst="ellipse">
            <a:avLst/>
          </a:prstGeom>
          <a:solidFill>
            <a:srgbClr val="2DD4B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000" y="255000"/>
            <a:ext cx="90000" cy="900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200000"/>
            <a:ext cx="64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onsolas"/>
              </a:defRPr>
            </a:pPr>
            <a:r>
              <a:t>关键工程点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20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64748B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500000"/>
            <a:ext cx="892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1F5F9"/>
                </a:solidFill>
                <a:latin typeface="Segoe UI"/>
              </a:defRPr>
            </a:pPr>
            <a:r>
              <a:t>神经 surrogate 让极化模型进入实时 ABM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2000000"/>
            <a:ext cx="2600000" cy="20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000" y="225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ODE 太慢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000" y="2700000"/>
            <a:ext cx="2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每个细胞每帧都求解极化 ODE，会拖慢 100+ cell 的实时决策。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0000" y="2000000"/>
            <a:ext cx="2600000" cy="20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0000" y="225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细胞因子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0000" y="2700000"/>
            <a:ext cx="2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IFN-γ、IL-4、IL-10、TGF-β 等局部信号输入模型。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0000" y="2000000"/>
            <a:ext cx="2600000" cy="20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0000" y="225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M1 / 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0000" y="2700000"/>
            <a:ext cx="2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输出极化分数，并参与吞噬概率和细胞行为更新。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0000" y="2000000"/>
            <a:ext cx="2600000" cy="20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0000" y="225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0.3ms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0000" y="2700000"/>
            <a:ext cx="2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网站里可对比 ODE 约 847ms 与 surrogate 推理约 0.3ms。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180000" y="3000000"/>
            <a:ext cx="120000" cy="60000"/>
          </a:xfrm>
          <a:prstGeom prst="rightArrow">
            <a:avLst/>
          </a:prstGeom>
          <a:solidFill>
            <a:srgbClr val="2DD4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5980000" y="3000000"/>
            <a:ext cx="120000" cy="60000"/>
          </a:xfrm>
          <a:prstGeom prst="rightArrow">
            <a:avLst/>
          </a:prstGeom>
          <a:solidFill>
            <a:srgbClr val="2DD4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8780000" y="3000000"/>
            <a:ext cx="120000" cy="60000"/>
          </a:xfrm>
          <a:prstGeom prst="rightArrow">
            <a:avLst/>
          </a:prstGeom>
          <a:solidFill>
            <a:srgbClr val="2DD4B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0" y="4500000"/>
            <a:ext cx="1044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切网站：打开 AI 面板，运行 parameter sweep，说明这是为了实时交互而做的工程折中。</a:t>
            </a:r>
          </a:p>
        </p:txBody>
      </p:sp>
    </p:spTree>
    <p:bgPr>
      <a:gradFill flip="none" rotWithShape="1">
        <a:gsLst>
          <a:gs pos="0">
            <a:srgbClr val="0A1628"/>
          </a:gs>
          <a:gs pos="400">
            <a:srgbClr val="0F1D32"/>
          </a:gs>
          <a:gs pos="1000">
            <a:srgbClr val="1E293B"/>
          </a:gs>
        </a:gsLst>
        <a:lin ang="8100000" scaled="1"/>
      </a:gradFill>
    </p:bgPr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00000" y="3600000"/>
            <a:ext cx="2200000" cy="2200000"/>
          </a:xfrm>
          <a:prstGeom prst="ellipse">
            <a:avLst/>
          </a:prstGeom>
          <a:solidFill>
            <a:srgbClr val="2DD4B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00000" y="5000000"/>
            <a:ext cx="1400000" cy="1400000"/>
          </a:xfrm>
          <a:prstGeom prst="ellipse">
            <a:avLst/>
          </a:prstGeom>
          <a:solidFill>
            <a:srgbClr val="14B8A6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00000" y="5000000"/>
            <a:ext cx="1000000" cy="1000000"/>
          </a:xfrm>
          <a:prstGeom prst="ellipse">
            <a:avLst/>
          </a:prstGeom>
          <a:solidFill>
            <a:srgbClr val="2DD4B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000" y="255000"/>
            <a:ext cx="90000" cy="900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200000"/>
            <a:ext cx="64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onsolas"/>
              </a:defRPr>
            </a:pPr>
            <a:r>
              <a:t>最后一句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20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64748B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60000" y="1620000"/>
            <a:ext cx="9648000" cy="26640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4000" y="2034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1F5F9"/>
                </a:solidFill>
                <a:latin typeface="Segoe UI"/>
              </a:defRPr>
            </a:pPr>
            <a:r>
              <a:t>让机制假设先在屏幕上跑起来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2000" y="3042000"/>
            <a:ext cx="849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defRPr sz="2000" b="0">
                <a:solidFill>
                  <a:srgbClr val="CBD5E1"/>
                </a:solidFill>
                <a:latin typeface="Segoe UI"/>
              </a:defRPr>
            </a:pPr>
            <a:r>
              <a:t>下一步不是宣称模型已预测临床，而是把更多实验数据接入参数校准，</a:t>
            </a:r>
            <a:br/>
            <a:r>
              <a:t>让 CAR-M 设计、TME 情境和验证实验形成闭环。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0000" y="4400000"/>
            <a:ext cx="2000000" cy="254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0000" y="58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CAR-M Simulator · AI Virtual Cell Platform</a:t>
            </a:r>
          </a:p>
        </p:txBody>
      </p:sp>
    </p:spTree>
    <p:bgPr>
      <a:gradFill flip="none" rotWithShape="1">
        <a:gsLst>
          <a:gs pos="0">
            <a:srgbClr val="0A1628"/>
          </a:gs>
          <a:gs pos="400">
            <a:srgbClr val="0F1D32"/>
          </a:gs>
          <a:gs pos="1000">
            <a:srgbClr val="1E293B"/>
          </a:gs>
        </a:gsLst>
        <a:lin ang="8100000" scaled="1"/>
      </a:gradFill>
    </p:bgPr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