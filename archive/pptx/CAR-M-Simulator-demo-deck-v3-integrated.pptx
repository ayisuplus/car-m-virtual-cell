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ad4ce46a9304256" Type="http://schemas.openxmlformats.org/officeDocument/2006/relationships/custom-properties" Target="docProps/custom.xml"/><Relationship Id="R9e3e7e636dfe4d3e" Type="http://schemas.openxmlformats.org/package/2006/relationships/metadata/core-properties" Target="docProps/core.xml"/><Relationship Id="Rb0b8c1653a16457b" Type="http://schemas.openxmlformats.org/officeDocument/2006/relationships/officeDocument" Target="ppt/presentation.xml"/><Relationship Id="Re9c2e81c20124edc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e0b7b4982774da9"/>
    <p:sldId id="257" r:id="R25b8a07f98134763"/>
    <p:sldId id="258" r:id="R0d7f40663c894c09"/>
    <p:sldId id="259" r:id="R2ecdcd4f4e144987"/>
    <p:sldId id="260" r:id="R463e59547e0a4af1"/>
    <p:sldId id="261" r:id="R0509970d71c14a72"/>
    <p:sldId id="262" r:id="R97eea09825b3493c"/>
    <p:sldId id="263" r:id="R5b8b2eb8003f479f"/>
    <p:sldId id="264" r:id="R4302da1c1cc04740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0509970d71c14a72" Type="http://schemas.openxmlformats.org/officeDocument/2006/relationships/slide" Target="slides/slide6.xml"/><Relationship Id="R0d7f40663c894c09" Type="http://schemas.openxmlformats.org/officeDocument/2006/relationships/slide" Target="slides/slide3.xml"/><Relationship Id="R25b8a07f98134763" Type="http://schemas.openxmlformats.org/officeDocument/2006/relationships/slide" Target="slides/slide2.xml"/><Relationship Id="R2ecdcd4f4e144987" Type="http://schemas.openxmlformats.org/officeDocument/2006/relationships/slide" Target="slides/slide4.xml"/><Relationship Id="R3e0b7b4982774da9" Type="http://schemas.openxmlformats.org/officeDocument/2006/relationships/slide" Target="slides/slide1.xml"/><Relationship Id="R4302da1c1cc04740" Type="http://schemas.openxmlformats.org/officeDocument/2006/relationships/slide" Target="slides/slide9.xml"/><Relationship Id="R463e59547e0a4af1" Type="http://schemas.openxmlformats.org/officeDocument/2006/relationships/slide" Target="slides/slide5.xml"/><Relationship Id="R5b8b2eb8003f479f" Type="http://schemas.openxmlformats.org/officeDocument/2006/relationships/slide" Target="slides/slide8.xml"/><Relationship Id="R97eea09825b3493c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各位老师、各位同学，大家好。
今天我想用九分钟，给大家看一个能跑起来的假设——它叫 CAR-M Simulator，是一个机制启发型的 Web 平台，用来探索 CAR-engineered macrophage，也就是经过 CAR 工程化的巨噬细胞，在肿瘤微环境里的行为动态。
[操作：手指向屏幕标题]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为什么做这个？实体瘤的免疫治疗一直有个头疼的问题。大家应该都熟 CAR-T——它在血液瘤里很漂亮，但一到实体瘤就麻烦：进不去、被压制，抗原还乱，毒性也难管。
CAR-M 厉害就厉害在这：巨噬细胞天然能钻进实体组织，而且它不只会杀伤，还能吞噬、做抗原呈递，甚至重塑微环境。
我们的目标很朴素——做一个可调参、可运行、可比较的交互系统，把「巨噬细胞怎么极化、吞不吞得动肿瘤」这件事摆到屏幕上看。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但这里我要先划一条线，也主动跟各位老师交个底：
我们这个平台，做的是机制趋势的探索，不是临床预测。
它把 CAR 设计、TME 条件和细胞行为连起来，帮我们比较「如果这样设计会怎样」，但它不能替代实验、也不能替代临床判断，最后一定要用实验去校准。
这条边界，后面我还会再提一次。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好，接下来我切到网站，大家先看三个东西就好，不用记按钮。
先给大伙一个「这是活的」的感觉。这是我们用 AI 生成的 DNA 双螺旋 3D 模型，可以转着看。待会儿模拟里那些细胞，就是在这样的微观尺度上跑的。
第一，细胞行为。你看这块——CAR-M、肿瘤细胞、野生型巨噬、还有 CD8+ T 细胞，它们在同一个微环境里实时运动、互相作用，不是动画，是模拟在跑。
第二，模型输入。左边这些——CAR 信号域、抗原、亲和力、CD47/SIRPα 阻断，还有 TME 条件——都会改变模拟的输入。
第三，结果反馈。右边这个 Dashboard 实时追踪四个东西：肿瘤数量、吞噬率、M1/M2 比例，还有 CD8+ T 细胞的活化趋势。
所以等下你们盯住一个点就行：我一动左边参数，右边指标就动。这个「动」，就是今天的核心。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我先离开模拟台，看一眼它背后是什么。
它不是只套了层 UI 皮，背后是四层。我一层一层说：
- 最底下是数据层——scRNA 测序、巨噬细胞图谱，这是原料；
- 往上一层是 AI 层，借鉴 scVI、CellForge 这一类单细胞降维和生成思路，加一个 surrogate 模型。参数一部分来自这些数据，一部分是假设性的，后面要靠实验校准；
- 再往上是模拟层，ABM——也就是基于智能体的建模——加上扩散场、极化方程、吞噬概率；
- 最顶上是应用层，React 加 Three.js，把它们变成你刚才能点的界面。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收尾前，我想特别谨慎地说一组数字。
刚才提到 CT-0508，它的早期报告里：14 个病人，Grade≥3 的 CRS 是 0%，44% 疾病稳定，最佳反应中位下降 20%。
但我要强调——这是背景和场景设计的参考，不是我们这个模拟的验证结果。我们没说模型预测了临床。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回到模拟台，下面是今天最想给大家看的部分。我按一条固定路线走，不随机乱点。
第一步，建立共同语境。我先跑一个 baseline——它受 CT-0508 启发，CT-0508 是首个进临床的 HER2 CAR-M 试验，收尾我会提它的真实数据。
现在大家看默认设置：CAR-M 数量、肿瘤细胞数量、TGF-β 水平，还有一个随机种子，都先固定。点运行。画面里细胞开始动，右边指标开始爬——肿瘤数量在掉，吞噬率在升，这是基线趋势。
第二步，证明它能探索。现在我把抗原情境换一下，比如 HER2-low，或者勾上 CD147 的 ECM degradation，或者切到 cold tumor 场景。你看，只是输入变了，右边的趋势线形状就变了——M1/M2 比例、CD8 活化都跟着动。
这里我再把早上那条线拎出来一下：我比的是趋势，不是在预测哪个设计能进临床。哪个掉得快、哪个活化强，是方向性的比较，不是结论。
第三步，做对比。最后把前后两个跑分放一起比。不用我多解释，两条线一摆——哪个设计让肿瘤掉得快、哪个让免疫活化强，一眼就看到。
所以各位不妨想一下：如果是你，会先动哪个参数？没有标准答案，但这正是我们想用这个平台帮大家干的事。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这里有个我觉得最值得说的小工程点。
极化方程——就是每个细胞每帧都要算它往 M1 还是 M2 极化——如果老老实实解 ODE，一百多个细胞实时跑，每个细胞每帧 847 毫秒，整个画面就卡死了。
所以我们用了一个神经 surrogate，把这一步压到 0.3 毫秒。
你看，我在网站上可以跑一个参数扫描——左边是原来的 ODE 速度，右边是 surrogate 推理速度。快不是为了炫技——快，才让「每一帧给上百个细胞做决策」这件事变成可能。
所以你刚看到画面里细胞动得那么顺，背后就是它每帧替每个细胞算完了一遍。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最后想说一句话：让机制假设先在屏幕上跑起来。
下一步很明确——把更多实验数据接进来做参数校准，让 CAR-M 设计、TME 情境和验证实验形成一个闭环。我们不会去宣称模型已经能预测临床。
我希望它不只是个演示，而是来这边之后能和各位的实验、数据真正接上。
今天最想请各位给的反馈是三件事：机制边界划得对不对、surrogate 这种折中能不能接受、还有后续该接哪些实验来验证。
谢谢大家！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dbd0f895e99042ed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bd2d5932cf7496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6f7dffb31d84a0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5e1731061314adf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c0c894be3dd4c3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e78737d950db4b5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d3d640adeab64759" Type="http://schemas.openxmlformats.org/officeDocument/2006/relationships/slideLayout" Target="../slideLayouts/slideLayout1.xml"/><Relationship Id="Re382323f3be4433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80e8ff9d7ee4954" Type="http://schemas.openxmlformats.org/officeDocument/2006/relationships/slideLayout" Target="../slideLayouts/slideLayout1.xml"/><Relationship Id="R9884a9978d3d421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098d4dbb64f44e2" Type="http://schemas.openxmlformats.org/officeDocument/2006/relationships/slideLayout" Target="../slideLayouts/slideLayout1.xml"/><Relationship Id="Re9356f0597c74e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dc66b45677f47d9" Type="http://schemas.openxmlformats.org/officeDocument/2006/relationships/notesSlide" Target="../notesSlides/notesSlide4.xml"/><Relationship Id="Ra697773840fc43a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3a84e29e465476b" Type="http://schemas.openxmlformats.org/officeDocument/2006/relationships/slideLayout" Target="../slideLayouts/slideLayout1.xml"/><Relationship Id="Rbd43c13ddf474c3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2efef4c60b3470b" Type="http://schemas.openxmlformats.org/officeDocument/2006/relationships/slideLayout" Target="../slideLayouts/slideLayout1.xml"/><Relationship Id="R4a843918614149f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d5c86b552b24688" Type="http://schemas.openxmlformats.org/officeDocument/2006/relationships/notesSlide" Target="../notesSlides/notesSlide7.xml"/><Relationship Id="Recb6eb2a36be47e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a4fd4920154782" Type="http://schemas.openxmlformats.org/officeDocument/2006/relationships/notesSlide" Target="../notesSlides/notesSlide8.xml"/><Relationship Id="R93bdfafea306404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1a1b1ec1a3c44dd" Type="http://schemas.openxmlformats.org/officeDocument/2006/relationships/notesSlide" Target="../notesSlides/notesSlide9.xml"/><Relationship Id="R4cea3f073757453d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00" name="SlideNum01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0001" name="Eyebrow1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科研项目展示 · 网站 Demo 主导</a:t>
            </a:r>
          </a:p>
        </p:txBody>
      </p:sp>
      <p:sp>
        <p:nvSpPr>
          <p:cNvPr id="100002" name="CoverBand"/>
          <p:cNvSpPr/>
          <p:nvPr/>
        </p:nvSpPr>
        <p:spPr>
          <a:xfrm xmlns:a="http://schemas.openxmlformats.org/drawingml/2006/main">
            <a:off x="540000" y="1728000"/>
            <a:ext cx="576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CoverTitle"/>
          <p:cNvSpPr txBox="1"/>
          <p:nvPr/>
        </p:nvSpPr>
        <p:spPr>
          <a:xfrm xmlns:a="http://schemas.openxmlformats.org/drawingml/2006/main">
            <a:off x="756000" y="1800000"/>
            <a:ext cx="684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1F211C"/>
                </a:solidFill>
                <a:latin typeface="Georgia"/>
              </a:rPr>
              <a:t>CAR-M Simulator</a:t>
            </a:r>
          </a:p>
        </p:txBody>
      </p:sp>
      <p:sp>
        <p:nvSpPr>
          <p:cNvPr id="100004" name="CoverLead"/>
          <p:cNvSpPr txBox="1"/>
          <p:nvPr/>
        </p:nvSpPr>
        <p:spPr>
          <a:xfrm xmlns:a="http://schemas.openxmlformats.org/drawingml/2006/main">
            <a:off x="774000" y="2898000"/>
            <a:ext cx="792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45423B"/>
                </a:solidFill>
                <a:latin typeface="Calibri"/>
              </a:rPr>
              <a:t>用于探索 CAR-engineered macrophage 在肿瘤微环境中行为动态的机制启发型 Web 平台</a:t>
            </a:r>
          </a:p>
        </p:txBody>
      </p:sp>
      <p:sp>
        <p:nvSpPr>
          <p:cNvPr id="100005" name="CoverMeta"/>
          <p:cNvSpPr txBox="1"/>
          <p:nvPr/>
        </p:nvSpPr>
        <p:spPr>
          <a:xfrm xmlns:a="http://schemas.openxmlformats.org/drawingml/2006/main">
            <a:off x="774000" y="3690000"/>
            <a:ext cx="79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45423B"/>
                </a:solidFill>
                <a:latin typeface="Calibri"/>
              </a:rPr>
              <a:t>AI Virtual Cell Platform · Computational Immunology &amp; Systems Biology</a:t>
            </a:r>
          </a:p>
        </p:txBody>
      </p:sp>
      <p:sp>
        <p:nvSpPr>
          <p:cNvPr id="100006" name="CoverVisualFrame"/>
          <p:cNvSpPr/>
          <p:nvPr/>
        </p:nvSpPr>
        <p:spPr>
          <a:xfrm xmlns:a="http://schemas.openxmlformats.org/drawingml/2006/main">
            <a:off x="8604000" y="1728000"/>
            <a:ext cx="26640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CoverVisualCells"/>
          <p:cNvSpPr txBox="1"/>
          <p:nvPr/>
        </p:nvSpPr>
        <p:spPr>
          <a:xfrm xmlns:a="http://schemas.openxmlformats.org/drawingml/2006/main">
            <a:off x="8874000" y="2160000"/>
            <a:ext cx="2124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16806F"/>
                </a:solidFill>
                <a:latin typeface="Consolas"/>
                <a:ea typeface="Consolas"/>
              </a:rPr>
              <a:t>ABM</a:t>
            </a:r>
          </a:p>
          <a:p xmlns:a="http://schemas.openxmlformats.org/drawingml/2006/main">
            <a:pPr algn="ctr"/>
            <a:r>
              <a:rPr lang="en-US" sz="2100" b="1">
                <a:solidFill>
                  <a:srgbClr val="16806F"/>
                </a:solidFill>
                <a:latin typeface="Consolas"/>
                <a:ea typeface="Consolas"/>
              </a:rPr>
              <a:t>TME</a:t>
            </a:r>
          </a:p>
          <a:p xmlns:a="http://schemas.openxmlformats.org/drawingml/2006/main">
            <a:pPr algn="ctr"/>
            <a:r>
              <a:rPr lang="en-US" sz="2100" b="1">
                <a:solidFill>
                  <a:srgbClr val="16806F"/>
                </a:solidFill>
                <a:latin typeface="Consolas"/>
                <a:ea typeface="Consolas"/>
              </a:rPr>
              <a:t>CAR-M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08" name="SlideNum02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00009" name="Eyebrow2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背景问题</a:t>
            </a:r>
          </a:p>
        </p:txBody>
      </p:sp>
      <p:sp>
        <p:nvSpPr>
          <p:cNvPr id="100010" name="Title2"/>
          <p:cNvSpPr txBox="1"/>
          <p:nvPr/>
        </p:nvSpPr>
        <p:spPr>
          <a:xfrm xmlns:a="http://schemas.openxmlformats.org/drawingml/2006/main">
            <a:off x="540000" y="450000"/>
            <a:ext cx="892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1F211C"/>
                </a:solidFill>
                <a:latin typeface="Georgia"/>
              </a:rPr>
              <a:t>实体瘤免疫治疗的建模问题</a:t>
            </a:r>
          </a:p>
        </p:txBody>
      </p:sp>
      <p:sp>
        <p:nvSpPr>
          <p:cNvPr id="100011" name="ChallengeLead"/>
          <p:cNvSpPr txBox="1"/>
          <p:nvPr/>
        </p:nvSpPr>
        <p:spPr>
          <a:xfrm xmlns:a="http://schemas.openxmlformats.org/drawingml/2006/main">
            <a:off x="540000" y="1278000"/>
            <a:ext cx="864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45423B"/>
                </a:solidFill>
                <a:latin typeface="Calibri"/>
              </a:rPr>
              <a:t>CAR-T 在实体瘤中常受限于浸润不足、免疫抑制性 TME、抗原异质性和毒性管理。CAR-M 天然进入实体组织，同时承担吞噬、抗原呈递与微环境重塑。</a:t>
            </a:r>
          </a:p>
        </p:txBody>
      </p:sp>
      <p:sp>
        <p:nvSpPr>
          <p:cNvPr id="100012" name="ChallengePanel0"/>
          <p:cNvSpPr/>
          <p:nvPr/>
        </p:nvSpPr>
        <p:spPr>
          <a:xfrm xmlns:a="http://schemas.openxmlformats.org/drawingml/2006/main">
            <a:off x="540000" y="2484000"/>
            <a:ext cx="10620000" cy="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ChallengeText0-Title"/>
          <p:cNvSpPr txBox="1"/>
          <p:nvPr/>
        </p:nvSpPr>
        <p:spPr>
          <a:xfrm xmlns:a="http://schemas.openxmlformats.org/drawingml/2006/main">
            <a:off x="774000" y="2574000"/>
            <a:ext cx="9900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11C"/>
                </a:solidFill>
                <a:latin typeface="Georgia"/>
              </a:rPr>
              <a:t>障碍</a:t>
            </a:r>
          </a:p>
        </p:txBody>
      </p:sp>
      <p:sp>
        <p:nvSpPr>
          <p:cNvPr id="100014" name="ChallengeText0-Body"/>
          <p:cNvSpPr txBox="1"/>
          <p:nvPr/>
        </p:nvSpPr>
        <p:spPr>
          <a:xfrm xmlns:a="http://schemas.openxmlformats.org/drawingml/2006/main">
            <a:off x="774000" y="3024000"/>
            <a:ext cx="99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抑制性细胞因子、低氧/乳酸、ECM 屏障改变免疫细胞行为。</a:t>
            </a:r>
          </a:p>
        </p:txBody>
      </p:sp>
      <p:sp>
        <p:nvSpPr>
          <p:cNvPr id="100015" name="ChallengePanel1"/>
          <p:cNvSpPr/>
          <p:nvPr/>
        </p:nvSpPr>
        <p:spPr>
          <a:xfrm xmlns:a="http://schemas.openxmlformats.org/drawingml/2006/main">
            <a:off x="540000" y="3438000"/>
            <a:ext cx="10620000" cy="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ChallengeText1-Title"/>
          <p:cNvSpPr txBox="1"/>
          <p:nvPr/>
        </p:nvSpPr>
        <p:spPr>
          <a:xfrm xmlns:a="http://schemas.openxmlformats.org/drawingml/2006/main">
            <a:off x="774000" y="3528000"/>
            <a:ext cx="9900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11C"/>
                </a:solidFill>
                <a:latin typeface="Georgia"/>
              </a:rPr>
              <a:t>机会</a:t>
            </a:r>
          </a:p>
        </p:txBody>
      </p:sp>
      <p:sp>
        <p:nvSpPr>
          <p:cNvPr id="100017" name="ChallengeText1-Body"/>
          <p:cNvSpPr txBox="1"/>
          <p:nvPr/>
        </p:nvSpPr>
        <p:spPr>
          <a:xfrm xmlns:a="http://schemas.openxmlformats.org/drawingml/2006/main">
            <a:off x="774000" y="3978000"/>
            <a:ext cx="99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巨噬细胞极化状态和吞噬概率可被工程化设计影响。</a:t>
            </a:r>
          </a:p>
        </p:txBody>
      </p:sp>
      <p:sp>
        <p:nvSpPr>
          <p:cNvPr id="100018" name="ChallengePanel2"/>
          <p:cNvSpPr/>
          <p:nvPr/>
        </p:nvSpPr>
        <p:spPr>
          <a:xfrm xmlns:a="http://schemas.openxmlformats.org/drawingml/2006/main">
            <a:off x="540000" y="4392000"/>
            <a:ext cx="10620000" cy="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ChallengeText2-Title"/>
          <p:cNvSpPr txBox="1"/>
          <p:nvPr/>
        </p:nvSpPr>
        <p:spPr>
          <a:xfrm xmlns:a="http://schemas.openxmlformats.org/drawingml/2006/main">
            <a:off x="774000" y="4482000"/>
            <a:ext cx="9900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11C"/>
                </a:solidFill>
                <a:latin typeface="Georgia"/>
              </a:rPr>
              <a:t>展示目标</a:t>
            </a:r>
          </a:p>
        </p:txBody>
      </p:sp>
      <p:sp>
        <p:nvSpPr>
          <p:cNvPr id="100020" name="ChallengeText2-Body"/>
          <p:cNvSpPr txBox="1"/>
          <p:nvPr/>
        </p:nvSpPr>
        <p:spPr>
          <a:xfrm xmlns:a="http://schemas.openxmlformats.org/drawingml/2006/main">
            <a:off x="774000" y="4932000"/>
            <a:ext cx="99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把机制假设转成可调参、可运行、可比较的交互系统。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F211C"/>
        </a:solidFill>
      </p:bgPr>
    </p:bg>
    <p:spTree>
      <p:nvGrpSpPr>
        <p:cNvPr id="1" name=""/>
        <p:cNvGrpSpPr/>
        <p:nvPr/>
      </p:nvGrpSpPr>
      <p:grpSpPr/>
      <p:sp>
        <p:nvSpPr>
          <p:cNvPr id="100021" name="SlideNum03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DCD6C9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00022" name="Eyebrow3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63C0A8"/>
                </a:solidFill>
                <a:latin typeface="Consolas"/>
                <a:ea typeface="Consolas"/>
              </a:rPr>
              <a:t>核心定位</a:t>
            </a:r>
          </a:p>
        </p:txBody>
      </p:sp>
      <p:sp>
        <p:nvSpPr>
          <p:cNvPr id="100023" name="PositionFrame"/>
          <p:cNvSpPr/>
          <p:nvPr/>
        </p:nvSpPr>
        <p:spPr>
          <a:xfrm xmlns:a="http://schemas.openxmlformats.org/drawingml/2006/main">
            <a:off x="1440000" y="1512000"/>
            <a:ext cx="9288000" cy="24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>
            <a:solidFill>
              <a:srgbClr val="63C0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PositionTitle"/>
          <p:cNvSpPr txBox="1"/>
          <p:nvPr/>
        </p:nvSpPr>
        <p:spPr>
          <a:xfrm xmlns:a="http://schemas.openxmlformats.org/drawingml/2006/main">
            <a:off x="1728000" y="1872000"/>
            <a:ext cx="871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4400" b="1">
                <a:solidFill>
                  <a:srgbClr val="FFFFFB"/>
                </a:solidFill>
                <a:latin typeface="Georgia"/>
              </a:rPr>
              <a:t>机制趋势，不是临床预测</a:t>
            </a:r>
          </a:p>
        </p:txBody>
      </p:sp>
      <p:sp>
        <p:nvSpPr>
          <p:cNvPr id="100025" name="PositionLead"/>
          <p:cNvSpPr txBox="1"/>
          <p:nvPr/>
        </p:nvSpPr>
        <p:spPr>
          <a:xfrm xmlns:a="http://schemas.openxmlformats.org/drawingml/2006/main">
            <a:off x="1944000" y="2844000"/>
            <a:ext cx="82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DCD6C9"/>
                </a:solidFill>
                <a:latin typeface="Calibri"/>
              </a:rPr>
              <a:t>平台把 CAR 设计、TME 条件、细胞行为和实时指标连接起来，用于比较机制趋势，而不是替代实验或临床判断。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26" name="SlideNum04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00027" name="Eyebrow4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现场网站怎么看</a:t>
            </a:r>
          </a:p>
        </p:txBody>
      </p:sp>
      <p:sp>
        <p:nvSpPr>
          <p:cNvPr id="100028" name="Title4"/>
          <p:cNvSpPr txBox="1"/>
          <p:nvPr/>
        </p:nvSpPr>
        <p:spPr>
          <a:xfrm xmlns:a="http://schemas.openxmlformats.org/drawingml/2006/main">
            <a:off x="540000" y="450000"/>
            <a:ext cx="892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1F211C"/>
                </a:solidFill>
                <a:latin typeface="Georgia"/>
              </a:rPr>
              <a:t>Demo 时请盯住三个变化</a:t>
            </a:r>
          </a:p>
        </p:txBody>
      </p:sp>
      <p:sp>
        <p:nvSpPr>
          <p:cNvPr id="100029" name="FocusPanel0"/>
          <p:cNvSpPr/>
          <p:nvPr/>
        </p:nvSpPr>
        <p:spPr>
          <a:xfrm xmlns:a="http://schemas.openxmlformats.org/drawingml/2006/main">
            <a:off x="540000" y="1836000"/>
            <a:ext cx="3186000" cy="23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FocusNum0"/>
          <p:cNvSpPr txBox="1"/>
          <p:nvPr/>
        </p:nvSpPr>
        <p:spPr>
          <a:xfrm xmlns:a="http://schemas.openxmlformats.org/drawingml/2006/main">
            <a:off x="540000" y="1962000"/>
            <a:ext cx="318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16806F"/>
                </a:solidFill>
                <a:latin typeface="Georgia"/>
                <a:ea typeface="Georgia"/>
              </a:rPr>
              <a:t>1</a:t>
            </a:r>
          </a:p>
        </p:txBody>
      </p:sp>
      <p:sp>
        <p:nvSpPr>
          <p:cNvPr id="100031" name="FocusText0-Title"/>
          <p:cNvSpPr txBox="1"/>
          <p:nvPr/>
        </p:nvSpPr>
        <p:spPr>
          <a:xfrm xmlns:a="http://schemas.openxmlformats.org/drawingml/2006/main">
            <a:off x="666000" y="2520000"/>
            <a:ext cx="2934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11C"/>
                </a:solidFill>
                <a:latin typeface="Georgia"/>
              </a:rPr>
              <a:t>细胞行为</a:t>
            </a:r>
          </a:p>
        </p:txBody>
      </p:sp>
      <p:sp>
        <p:nvSpPr>
          <p:cNvPr id="100032" name="FocusText0-Body"/>
          <p:cNvSpPr txBox="1"/>
          <p:nvPr/>
        </p:nvSpPr>
        <p:spPr>
          <a:xfrm xmlns:a="http://schemas.openxmlformats.org/drawingml/2006/main">
            <a:off x="666000" y="2970000"/>
            <a:ext cx="293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CAR-M、肿瘤细胞、野生型巨噬和 CD8+ T 细胞在同一 TME 中实时运动、相互作用。</a:t>
            </a:r>
          </a:p>
        </p:txBody>
      </p:sp>
      <p:sp>
        <p:nvSpPr>
          <p:cNvPr id="100033" name="FocusPanel1"/>
          <p:cNvSpPr/>
          <p:nvPr/>
        </p:nvSpPr>
        <p:spPr>
          <a:xfrm xmlns:a="http://schemas.openxmlformats.org/drawingml/2006/main">
            <a:off x="4194000" y="1836000"/>
            <a:ext cx="3186000" cy="23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FocusNum1"/>
          <p:cNvSpPr txBox="1"/>
          <p:nvPr/>
        </p:nvSpPr>
        <p:spPr>
          <a:xfrm xmlns:a="http://schemas.openxmlformats.org/drawingml/2006/main">
            <a:off x="4194000" y="1962000"/>
            <a:ext cx="318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6E6A61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00035" name="FocusText1-Title"/>
          <p:cNvSpPr txBox="1"/>
          <p:nvPr/>
        </p:nvSpPr>
        <p:spPr>
          <a:xfrm xmlns:a="http://schemas.openxmlformats.org/drawingml/2006/main">
            <a:off x="4320000" y="2520000"/>
            <a:ext cx="2934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11C"/>
                </a:solidFill>
                <a:latin typeface="Georgia"/>
              </a:rPr>
              <a:t>模型输入</a:t>
            </a:r>
          </a:p>
        </p:txBody>
      </p:sp>
      <p:sp>
        <p:nvSpPr>
          <p:cNvPr id="100036" name="FocusText1-Body"/>
          <p:cNvSpPr txBox="1"/>
          <p:nvPr/>
        </p:nvSpPr>
        <p:spPr>
          <a:xfrm xmlns:a="http://schemas.openxmlformats.org/drawingml/2006/main">
            <a:off x="4320000" y="2970000"/>
            <a:ext cx="293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CAR 信号域、抗原、亲和力、CD47/SIRPα 阻断和 TME 条件改变模拟输入。</a:t>
            </a:r>
          </a:p>
        </p:txBody>
      </p:sp>
      <p:sp>
        <p:nvSpPr>
          <p:cNvPr id="100037" name="FocusPanel2"/>
          <p:cNvSpPr/>
          <p:nvPr/>
        </p:nvSpPr>
        <p:spPr>
          <a:xfrm xmlns:a="http://schemas.openxmlformats.org/drawingml/2006/main">
            <a:off x="7848000" y="1836000"/>
            <a:ext cx="3186000" cy="23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8" name="FocusNum2"/>
          <p:cNvSpPr txBox="1"/>
          <p:nvPr/>
        </p:nvSpPr>
        <p:spPr>
          <a:xfrm xmlns:a="http://schemas.openxmlformats.org/drawingml/2006/main">
            <a:off x="7848000" y="1962000"/>
            <a:ext cx="318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6E6A61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100039" name="FocusText2-Title"/>
          <p:cNvSpPr txBox="1"/>
          <p:nvPr/>
        </p:nvSpPr>
        <p:spPr>
          <a:xfrm xmlns:a="http://schemas.openxmlformats.org/drawingml/2006/main">
            <a:off x="7974000" y="2520000"/>
            <a:ext cx="2934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11C"/>
                </a:solidFill>
                <a:latin typeface="Georgia"/>
              </a:rPr>
              <a:t>结果反馈</a:t>
            </a:r>
          </a:p>
        </p:txBody>
      </p:sp>
      <p:sp>
        <p:nvSpPr>
          <p:cNvPr id="100040" name="FocusText2-Body"/>
          <p:cNvSpPr txBox="1"/>
          <p:nvPr/>
        </p:nvSpPr>
        <p:spPr>
          <a:xfrm xmlns:a="http://schemas.openxmlformats.org/drawingml/2006/main">
            <a:off x="7974000" y="2970000"/>
            <a:ext cx="293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Dashboard 实时追踪肿瘤数量、吞噬率、M1/M2 比例和 CD8+ T 活化趋势。</a:t>
            </a:r>
          </a:p>
        </p:txBody>
      </p:sp>
      <p:sp>
        <p:nvSpPr>
          <p:cNvPr id="100041" name="FocusCue"/>
          <p:cNvSpPr txBox="1"/>
          <p:nvPr/>
        </p:nvSpPr>
        <p:spPr>
          <a:xfrm xmlns:a="http://schemas.openxmlformats.org/drawingml/2006/main">
            <a:off x="540000" y="4770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切网站：进入 Simulation Workbench，先播放默认场景，再打开右侧 Metrics 面板。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F211C"/>
        </a:solidFill>
      </p:bgPr>
    </p:bg>
    <p:spTree>
      <p:nvGrpSpPr>
        <p:cNvPr id="1" name=""/>
        <p:cNvGrpSpPr/>
        <p:nvPr/>
      </p:nvGrpSpPr>
      <p:grpSpPr/>
      <p:sp>
        <p:nvSpPr>
          <p:cNvPr id="100042" name="SlideNum05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DCD6C9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100043" name="Eyebrow5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63C0A8"/>
                </a:solidFill>
                <a:latin typeface="Consolas"/>
                <a:ea typeface="Consolas"/>
              </a:rPr>
              <a:t>系统架构</a:t>
            </a:r>
          </a:p>
        </p:txBody>
      </p:sp>
      <p:sp>
        <p:nvSpPr>
          <p:cNvPr id="100044" name="Title5"/>
          <p:cNvSpPr txBox="1"/>
          <p:nvPr/>
        </p:nvSpPr>
        <p:spPr>
          <a:xfrm xmlns:a="http://schemas.openxmlformats.org/drawingml/2006/main">
            <a:off x="540000" y="450000"/>
            <a:ext cx="89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FFFFB"/>
                </a:solidFill>
                <a:latin typeface="Georgia"/>
              </a:rPr>
              <a:t>四层把生物知识、机器学习和可交互模拟接起来</a:t>
            </a:r>
          </a:p>
        </p:txBody>
      </p:sp>
      <p:sp>
        <p:nvSpPr>
          <p:cNvPr id="100045" name="ArchBox0"/>
          <p:cNvSpPr/>
          <p:nvPr/>
        </p:nvSpPr>
        <p:spPr>
          <a:xfrm xmlns:a="http://schemas.openxmlformats.org/drawingml/2006/main">
            <a:off x="54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ArchNum0"/>
          <p:cNvSpPr txBox="1"/>
          <p:nvPr/>
        </p:nvSpPr>
        <p:spPr>
          <a:xfrm xmlns:a="http://schemas.openxmlformats.org/drawingml/2006/main">
            <a:off x="66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3C0A8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0047" name="ArchText0-Title"/>
          <p:cNvSpPr txBox="1"/>
          <p:nvPr/>
        </p:nvSpPr>
        <p:spPr>
          <a:xfrm xmlns:a="http://schemas.openxmlformats.org/drawingml/2006/main">
            <a:off x="666000" y="2772000"/>
            <a:ext cx="235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FFFFB"/>
                </a:solidFill>
                <a:latin typeface="Georgia"/>
              </a:rPr>
              <a:t>Data Layer</a:t>
            </a:r>
          </a:p>
        </p:txBody>
      </p:sp>
      <p:sp>
        <p:nvSpPr>
          <p:cNvPr id="100048" name="ArchText0-Body"/>
          <p:cNvSpPr txBox="1"/>
          <p:nvPr/>
        </p:nvSpPr>
        <p:spPr>
          <a:xfrm xmlns:a="http://schemas.openxmlformats.org/drawingml/2006/main">
            <a:off x="66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DCD6C9"/>
                </a:solidFill>
                <a:latin typeface="Calibri"/>
              </a:rPr>
              <a:t>scRNA-seq / TAM atlas / 通路与结构参考。</a:t>
            </a:r>
          </a:p>
        </p:txBody>
      </p:sp>
      <p:sp>
        <p:nvSpPr>
          <p:cNvPr id="100049" name="ArchBox1"/>
          <p:cNvSpPr/>
          <p:nvPr/>
        </p:nvSpPr>
        <p:spPr>
          <a:xfrm xmlns:a="http://schemas.openxmlformats.org/drawingml/2006/main">
            <a:off x="342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924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ArchNum1"/>
          <p:cNvSpPr txBox="1"/>
          <p:nvPr/>
        </p:nvSpPr>
        <p:spPr>
          <a:xfrm xmlns:a="http://schemas.openxmlformats.org/drawingml/2006/main">
            <a:off x="354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3C0A8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00051" name="ArchText1-Title"/>
          <p:cNvSpPr txBox="1"/>
          <p:nvPr/>
        </p:nvSpPr>
        <p:spPr>
          <a:xfrm xmlns:a="http://schemas.openxmlformats.org/drawingml/2006/main">
            <a:off x="3546000" y="2772000"/>
            <a:ext cx="235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FFFFB"/>
                </a:solidFill>
                <a:latin typeface="Georgia"/>
              </a:rPr>
              <a:t>AI / ML Layer</a:t>
            </a:r>
          </a:p>
        </p:txBody>
      </p:sp>
      <p:sp>
        <p:nvSpPr>
          <p:cNvPr id="100052" name="ArchText1-Body"/>
          <p:cNvSpPr txBox="1"/>
          <p:nvPr/>
        </p:nvSpPr>
        <p:spPr>
          <a:xfrm xmlns:a="http://schemas.openxmlformats.org/drawingml/2006/main">
            <a:off x="354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DCD6C9"/>
                </a:solidFill>
                <a:latin typeface="Calibri"/>
              </a:rPr>
              <a:t>scVI + CellForge 思路 + surrogate。参数部分来自数据，部分为假设性，需实验校准。</a:t>
            </a:r>
          </a:p>
        </p:txBody>
      </p:sp>
      <p:sp>
        <p:nvSpPr>
          <p:cNvPr id="100053" name="ArchBox2"/>
          <p:cNvSpPr/>
          <p:nvPr/>
        </p:nvSpPr>
        <p:spPr>
          <a:xfrm xmlns:a="http://schemas.openxmlformats.org/drawingml/2006/main">
            <a:off x="630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ArchNum2"/>
          <p:cNvSpPr txBox="1"/>
          <p:nvPr/>
        </p:nvSpPr>
        <p:spPr>
          <a:xfrm xmlns:a="http://schemas.openxmlformats.org/drawingml/2006/main">
            <a:off x="642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3C0A8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00055" name="ArchText2-Title"/>
          <p:cNvSpPr txBox="1"/>
          <p:nvPr/>
        </p:nvSpPr>
        <p:spPr>
          <a:xfrm xmlns:a="http://schemas.openxmlformats.org/drawingml/2006/main">
            <a:off x="6426000" y="2772000"/>
            <a:ext cx="2358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FFFFB"/>
                </a:solidFill>
                <a:latin typeface="Georgia"/>
              </a:rPr>
              <a:t>Simulation Layer</a:t>
            </a:r>
          </a:p>
        </p:txBody>
      </p:sp>
      <p:sp>
        <p:nvSpPr>
          <p:cNvPr id="100056" name="ArchText2-Body"/>
          <p:cNvSpPr txBox="1"/>
          <p:nvPr/>
        </p:nvSpPr>
        <p:spPr>
          <a:xfrm xmlns:a="http://schemas.openxmlformats.org/drawingml/2006/main">
            <a:off x="642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DCD6C9"/>
                </a:solidFill>
                <a:latin typeface="Calibri"/>
              </a:rPr>
              <a:t>ABM、扩散场、极化 ODE、吞噬概率。</a:t>
            </a:r>
          </a:p>
        </p:txBody>
      </p:sp>
      <p:sp>
        <p:nvSpPr>
          <p:cNvPr id="100057" name="ArchBox3"/>
          <p:cNvSpPr/>
          <p:nvPr/>
        </p:nvSpPr>
        <p:spPr>
          <a:xfrm xmlns:a="http://schemas.openxmlformats.org/drawingml/2006/main">
            <a:off x="918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924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ArchNum3"/>
          <p:cNvSpPr txBox="1"/>
          <p:nvPr/>
        </p:nvSpPr>
        <p:spPr>
          <a:xfrm xmlns:a="http://schemas.openxmlformats.org/drawingml/2006/main">
            <a:off x="930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3C0A8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100059" name="ArchText3-Title"/>
          <p:cNvSpPr txBox="1"/>
          <p:nvPr/>
        </p:nvSpPr>
        <p:spPr>
          <a:xfrm xmlns:a="http://schemas.openxmlformats.org/drawingml/2006/main">
            <a:off x="9306000" y="2772000"/>
            <a:ext cx="2358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FFFFB"/>
                </a:solidFill>
                <a:latin typeface="Georgia"/>
              </a:rPr>
              <a:t>Application Layer</a:t>
            </a:r>
          </a:p>
        </p:txBody>
      </p:sp>
      <p:sp>
        <p:nvSpPr>
          <p:cNvPr id="100060" name="ArchText3-Body"/>
          <p:cNvSpPr txBox="1"/>
          <p:nvPr/>
        </p:nvSpPr>
        <p:spPr>
          <a:xfrm xmlns:a="http://schemas.openxmlformats.org/drawingml/2006/main">
            <a:off x="930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DCD6C9"/>
                </a:solidFill>
                <a:latin typeface="Calibri"/>
              </a:rPr>
              <a:t>React、Canvas / Three.js、Chart.js。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64" name="SlideNum06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100065" name="Eyebrow6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临床背景锚点</a:t>
            </a:r>
          </a:p>
        </p:txBody>
      </p:sp>
      <p:sp>
        <p:nvSpPr>
          <p:cNvPr id="100066" name="ClinicalZero"/>
          <p:cNvSpPr txBox="1"/>
          <p:nvPr/>
        </p:nvSpPr>
        <p:spPr>
          <a:xfrm xmlns:a="http://schemas.openxmlformats.org/drawingml/2006/main">
            <a:off x="540000" y="1188000"/>
            <a:ext cx="4320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800" b="1">
                <a:solidFill>
                  <a:srgbClr val="16806F"/>
                </a:solidFill>
                <a:latin typeface="Georgia"/>
                <a:ea typeface="Georgia"/>
              </a:rPr>
              <a:t>0%</a:t>
            </a:r>
          </a:p>
        </p:txBody>
      </p:sp>
      <p:sp>
        <p:nvSpPr>
          <p:cNvPr id="100067" name="ClinicalCaption"/>
          <p:cNvSpPr txBox="1"/>
          <p:nvPr/>
        </p:nvSpPr>
        <p:spPr>
          <a:xfrm xmlns:a="http://schemas.openxmlformats.org/drawingml/2006/main">
            <a:off x="648000" y="2790000"/>
            <a:ext cx="612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45423B"/>
                </a:solidFill>
                <a:latin typeface="Calibri"/>
              </a:rPr>
              <a:t>CT-0508 早期报告：14 个病人，0% Grade≥3 CRS，44% 疾病稳定，最佳反应中位下降 20%
本项目仅把这些结果作为临床背景和场景设计参考，不是本模拟的验证结果。</a:t>
            </a:r>
          </a:p>
        </p:txBody>
      </p:sp>
      <p:sp>
        <p:nvSpPr>
          <p:cNvPr id="100068" name="MetricPanel0"/>
          <p:cNvSpPr/>
          <p:nvPr/>
        </p:nvSpPr>
        <p:spPr>
          <a:xfrm xmlns:a="http://schemas.openxmlformats.org/drawingml/2006/main">
            <a:off x="720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9" name="MetricNum0"/>
          <p:cNvSpPr txBox="1"/>
          <p:nvPr/>
        </p:nvSpPr>
        <p:spPr>
          <a:xfrm xmlns:a="http://schemas.openxmlformats.org/drawingml/2006/main">
            <a:off x="720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F211C"/>
                </a:solidFill>
                <a:latin typeface="Consolas"/>
                <a:ea typeface="Consolas"/>
              </a:rPr>
              <a:t>14</a:t>
            </a:r>
          </a:p>
        </p:txBody>
      </p:sp>
      <p:sp>
        <p:nvSpPr>
          <p:cNvPr id="100070" name="MetricLab0"/>
          <p:cNvSpPr txBox="1"/>
          <p:nvPr/>
        </p:nvSpPr>
        <p:spPr>
          <a:xfrm xmlns:a="http://schemas.openxmlformats.org/drawingml/2006/main">
            <a:off x="720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E6A61"/>
                </a:solidFill>
                <a:latin typeface="Calibri"/>
                <a:ea typeface="Calibri"/>
              </a:rPr>
              <a:t>patients</a:t>
            </a:r>
          </a:p>
        </p:txBody>
      </p:sp>
      <p:sp>
        <p:nvSpPr>
          <p:cNvPr id="100071" name="MetricPanel1"/>
          <p:cNvSpPr/>
          <p:nvPr/>
        </p:nvSpPr>
        <p:spPr>
          <a:xfrm xmlns:a="http://schemas.openxmlformats.org/drawingml/2006/main">
            <a:off x="3438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2" name="MetricNum1"/>
          <p:cNvSpPr txBox="1"/>
          <p:nvPr/>
        </p:nvSpPr>
        <p:spPr>
          <a:xfrm xmlns:a="http://schemas.openxmlformats.org/drawingml/2006/main">
            <a:off x="3438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F211C"/>
                </a:solidFill>
                <a:latin typeface="Consolas"/>
                <a:ea typeface="Consolas"/>
              </a:rPr>
              <a:t>0%</a:t>
            </a:r>
          </a:p>
        </p:txBody>
      </p:sp>
      <p:sp>
        <p:nvSpPr>
          <p:cNvPr id="100073" name="MetricLab1"/>
          <p:cNvSpPr txBox="1"/>
          <p:nvPr/>
        </p:nvSpPr>
        <p:spPr>
          <a:xfrm xmlns:a="http://schemas.openxmlformats.org/drawingml/2006/main">
            <a:off x="3438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E6A61"/>
                </a:solidFill>
                <a:latin typeface="Calibri"/>
                <a:ea typeface="Calibri"/>
              </a:rPr>
              <a:t>CRS ≥G3</a:t>
            </a:r>
          </a:p>
        </p:txBody>
      </p:sp>
      <p:sp>
        <p:nvSpPr>
          <p:cNvPr id="100074" name="MetricPanel2"/>
          <p:cNvSpPr/>
          <p:nvPr/>
        </p:nvSpPr>
        <p:spPr>
          <a:xfrm xmlns:a="http://schemas.openxmlformats.org/drawingml/2006/main">
            <a:off x="6156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MetricNum2"/>
          <p:cNvSpPr txBox="1"/>
          <p:nvPr/>
        </p:nvSpPr>
        <p:spPr>
          <a:xfrm xmlns:a="http://schemas.openxmlformats.org/drawingml/2006/main">
            <a:off x="6156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F211C"/>
                </a:solidFill>
                <a:latin typeface="Consolas"/>
                <a:ea typeface="Consolas"/>
              </a:rPr>
              <a:t>44%</a:t>
            </a:r>
          </a:p>
        </p:txBody>
      </p:sp>
      <p:sp>
        <p:nvSpPr>
          <p:cNvPr id="100076" name="MetricLab2"/>
          <p:cNvSpPr txBox="1"/>
          <p:nvPr/>
        </p:nvSpPr>
        <p:spPr>
          <a:xfrm xmlns:a="http://schemas.openxmlformats.org/drawingml/2006/main">
            <a:off x="6156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E6A61"/>
                </a:solidFill>
                <a:latin typeface="Calibri"/>
                <a:ea typeface="Calibri"/>
              </a:rPr>
              <a:t>stable disease</a:t>
            </a:r>
          </a:p>
        </p:txBody>
      </p:sp>
      <p:sp>
        <p:nvSpPr>
          <p:cNvPr id="100077" name="MetricPanel3"/>
          <p:cNvSpPr/>
          <p:nvPr/>
        </p:nvSpPr>
        <p:spPr>
          <a:xfrm xmlns:a="http://schemas.openxmlformats.org/drawingml/2006/main">
            <a:off x="8874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MetricNum3"/>
          <p:cNvSpPr txBox="1"/>
          <p:nvPr/>
        </p:nvSpPr>
        <p:spPr>
          <a:xfrm xmlns:a="http://schemas.openxmlformats.org/drawingml/2006/main">
            <a:off x="8874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F211C"/>
                </a:solidFill>
                <a:latin typeface="Consolas"/>
                <a:ea typeface="Consolas"/>
              </a:rPr>
              <a:t>-20%</a:t>
            </a:r>
          </a:p>
        </p:txBody>
      </p:sp>
      <p:sp>
        <p:nvSpPr>
          <p:cNvPr id="100079" name="MetricLab3"/>
          <p:cNvSpPr txBox="1"/>
          <p:nvPr/>
        </p:nvSpPr>
        <p:spPr>
          <a:xfrm xmlns:a="http://schemas.openxmlformats.org/drawingml/2006/main">
            <a:off x="8874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E6A61"/>
                </a:solidFill>
                <a:latin typeface="Calibri"/>
                <a:ea typeface="Calibri"/>
              </a:rPr>
              <a:t>best response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80" name="SlideNum07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07</a:t>
            </a:r>
          </a:p>
        </p:txBody>
      </p:sp>
      <p:sp>
        <p:nvSpPr>
          <p:cNvPr id="100081" name="Eyebrow7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演示路线</a:t>
            </a:r>
          </a:p>
        </p:txBody>
      </p:sp>
      <p:sp>
        <p:nvSpPr>
          <p:cNvPr id="100082" name="Title7"/>
          <p:cNvSpPr txBox="1"/>
          <p:nvPr/>
        </p:nvSpPr>
        <p:spPr>
          <a:xfrm xmlns:a="http://schemas.openxmlformats.org/drawingml/2006/main">
            <a:off x="540000" y="450000"/>
            <a:ext cx="892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1F211C"/>
                </a:solidFill>
                <a:latin typeface="Georgia"/>
              </a:rPr>
              <a:t>按基线到调参再到对比的路线走</a:t>
            </a:r>
          </a:p>
        </p:txBody>
      </p:sp>
      <p:sp>
        <p:nvSpPr>
          <p:cNvPr id="100083" name="RouteLeft"/>
          <p:cNvSpPr/>
          <p:nvPr/>
        </p:nvSpPr>
        <p:spPr>
          <a:xfrm xmlns:a="http://schemas.openxmlformats.org/drawingml/2006/main">
            <a:off x="540000" y="1836000"/>
            <a:ext cx="5184000" cy="24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RouteRight"/>
          <p:cNvSpPr/>
          <p:nvPr/>
        </p:nvSpPr>
        <p:spPr>
          <a:xfrm xmlns:a="http://schemas.openxmlformats.org/drawingml/2006/main">
            <a:off x="6120000" y="1836000"/>
            <a:ext cx="5184000" cy="24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16806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5" name="RouteA-Title"/>
          <p:cNvSpPr txBox="1"/>
          <p:nvPr/>
        </p:nvSpPr>
        <p:spPr>
          <a:xfrm xmlns:a="http://schemas.openxmlformats.org/drawingml/2006/main">
            <a:off x="792000" y="2088000"/>
            <a:ext cx="460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11C"/>
                </a:solidFill>
                <a:latin typeface="Georgia"/>
              </a:rPr>
              <a:t>先建立共同语境</a:t>
            </a:r>
          </a:p>
        </p:txBody>
      </p:sp>
      <p:sp>
        <p:nvSpPr>
          <p:cNvPr id="100086" name="RouteA-Body"/>
          <p:cNvSpPr txBox="1"/>
          <p:nvPr/>
        </p:nvSpPr>
        <p:spPr>
          <a:xfrm xmlns:a="http://schemas.openxmlformats.org/drawingml/2006/main">
            <a:off x="792000" y="2538000"/>
            <a:ext cx="4608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运行 CT-0508-inspired baseline，展示默认细胞组成、CAR-M 数量、肿瘤细胞数量、TGF-β 和随机种子。</a:t>
            </a:r>
          </a:p>
        </p:txBody>
      </p:sp>
      <p:sp>
        <p:nvSpPr>
          <p:cNvPr id="100087" name="RouteB-Title"/>
          <p:cNvSpPr txBox="1"/>
          <p:nvPr/>
        </p:nvSpPr>
        <p:spPr>
          <a:xfrm xmlns:a="http://schemas.openxmlformats.org/drawingml/2006/main">
            <a:off x="6372000" y="2088000"/>
            <a:ext cx="460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11C"/>
                </a:solidFill>
                <a:latin typeface="Georgia"/>
              </a:rPr>
              <a:t>再证明可探索性 &amp; 做对比</a:t>
            </a:r>
          </a:p>
        </p:txBody>
      </p:sp>
      <p:sp>
        <p:nvSpPr>
          <p:cNvPr id="100088" name="RouteB-Body"/>
          <p:cNvSpPr txBox="1"/>
          <p:nvPr/>
        </p:nvSpPr>
        <p:spPr>
          <a:xfrm xmlns:a="http://schemas.openxmlformats.org/drawingml/2006/main">
            <a:off x="6372000" y="2538000"/>
            <a:ext cx="4608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切到 CAR-M Designer / Preset Scenarios，展示 HER2-low、CD147 ECM degradation、cold tumor 等情境如何改变趋势。打开 Compare 面板，放 baseline vs 调参后，一眼看出哪个设计让肿瘤掉得快、免疫活化强。</a:t>
            </a:r>
          </a:p>
        </p:txBody>
      </p:sp>
      <p:sp>
        <p:nvSpPr>
          <p:cNvPr id="100090" name="RouteCue"/>
          <p:cNvSpPr txBox="1"/>
          <p:nvPr/>
        </p:nvSpPr>
        <p:spPr>
          <a:xfrm xmlns:a="http://schemas.openxmlformats.org/drawingml/2006/main">
            <a:off x="540000" y="4824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45423B"/>
                </a:solidFill>
                <a:latin typeface="Calibri"/>
              </a:rPr>
              <a:t>切网站：Scenarios → CAR-M → Metrics → Compare。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F211C"/>
        </a:solidFill>
      </p:bgPr>
    </p:bg>
    <p:spTree>
      <p:nvGrpSpPr>
        <p:cNvPr id="1" name=""/>
        <p:cNvGrpSpPr/>
        <p:nvPr/>
      </p:nvGrpSpPr>
      <p:grpSpPr/>
      <p:sp>
        <p:nvSpPr>
          <p:cNvPr id="100091" name="SlideNum08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DCD6C9"/>
                </a:solidFill>
                <a:latin typeface="Georgia"/>
                <a:ea typeface="Georgia"/>
              </a:rPr>
              <a:t>08</a:t>
            </a:r>
          </a:p>
        </p:txBody>
      </p:sp>
      <p:sp>
        <p:nvSpPr>
          <p:cNvPr id="100092" name="Eyebrow8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63C0A8"/>
                </a:solidFill>
                <a:latin typeface="Consolas"/>
                <a:ea typeface="Consolas"/>
              </a:rPr>
              <a:t>关键工程点</a:t>
            </a:r>
          </a:p>
        </p:txBody>
      </p:sp>
      <p:sp>
        <p:nvSpPr>
          <p:cNvPr id="100093" name="Title8"/>
          <p:cNvSpPr txBox="1"/>
          <p:nvPr/>
        </p:nvSpPr>
        <p:spPr>
          <a:xfrm xmlns:a="http://schemas.openxmlformats.org/drawingml/2006/main">
            <a:off x="540000" y="450000"/>
            <a:ext cx="89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FFFFB"/>
                </a:solidFill>
                <a:latin typeface="Georgia"/>
              </a:rPr>
              <a:t>神经 surrogate 让极化模型进入实时 ABM</a:t>
            </a:r>
          </a:p>
        </p:txBody>
      </p:sp>
      <p:sp>
        <p:nvSpPr>
          <p:cNvPr id="100094" name="SurBox0"/>
          <p:cNvSpPr/>
          <p:nvPr/>
        </p:nvSpPr>
        <p:spPr>
          <a:xfrm xmlns:a="http://schemas.openxmlformats.org/drawingml/2006/main">
            <a:off x="540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5" name="SurText0-Title"/>
          <p:cNvSpPr txBox="1"/>
          <p:nvPr/>
        </p:nvSpPr>
        <p:spPr>
          <a:xfrm xmlns:a="http://schemas.openxmlformats.org/drawingml/2006/main">
            <a:off x="666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FFFFB"/>
                </a:solidFill>
                <a:latin typeface="Georgia"/>
              </a:rPr>
              <a:t>ODE 太慢</a:t>
            </a:r>
          </a:p>
        </p:txBody>
      </p:sp>
      <p:sp>
        <p:nvSpPr>
          <p:cNvPr id="100096" name="SurText0-Body"/>
          <p:cNvSpPr txBox="1"/>
          <p:nvPr/>
        </p:nvSpPr>
        <p:spPr>
          <a:xfrm xmlns:a="http://schemas.openxmlformats.org/drawingml/2006/main">
            <a:off x="666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每个细胞每帧都求解极化 ODE，会拖慢 100+ cell 的实时决策。</a:t>
            </a:r>
          </a:p>
        </p:txBody>
      </p:sp>
      <p:sp>
        <p:nvSpPr>
          <p:cNvPr id="100097" name="SurBox1"/>
          <p:cNvSpPr/>
          <p:nvPr/>
        </p:nvSpPr>
        <p:spPr>
          <a:xfrm xmlns:a="http://schemas.openxmlformats.org/drawingml/2006/main">
            <a:off x="3474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8" name="SurText1-Title"/>
          <p:cNvSpPr txBox="1"/>
          <p:nvPr/>
        </p:nvSpPr>
        <p:spPr>
          <a:xfrm xmlns:a="http://schemas.openxmlformats.org/drawingml/2006/main">
            <a:off x="3600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FFFFB"/>
                </a:solidFill>
                <a:latin typeface="Georgia"/>
              </a:rPr>
              <a:t>细胞因子</a:t>
            </a:r>
          </a:p>
        </p:txBody>
      </p:sp>
      <p:sp>
        <p:nvSpPr>
          <p:cNvPr id="100099" name="SurText1-Body"/>
          <p:cNvSpPr txBox="1"/>
          <p:nvPr/>
        </p:nvSpPr>
        <p:spPr>
          <a:xfrm xmlns:a="http://schemas.openxmlformats.org/drawingml/2006/main">
            <a:off x="3600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DCD6C9"/>
                </a:solidFill>
                <a:latin typeface="Calibri"/>
              </a:rPr>
              <a:t>IFN-γ、IL-4、IL-10、TGF-β 等局部信号输入模型。</a:t>
            </a:r>
          </a:p>
        </p:txBody>
      </p:sp>
      <p:sp>
        <p:nvSpPr>
          <p:cNvPr id="100100" name="SurBox2"/>
          <p:cNvSpPr/>
          <p:nvPr/>
        </p:nvSpPr>
        <p:spPr>
          <a:xfrm xmlns:a="http://schemas.openxmlformats.org/drawingml/2006/main">
            <a:off x="6408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1" name="SurText2-Title"/>
          <p:cNvSpPr txBox="1"/>
          <p:nvPr/>
        </p:nvSpPr>
        <p:spPr>
          <a:xfrm xmlns:a="http://schemas.openxmlformats.org/drawingml/2006/main">
            <a:off x="6534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FFFFB"/>
                </a:solidFill>
                <a:latin typeface="Georgia"/>
              </a:rPr>
              <a:t>M1 / M2</a:t>
            </a:r>
          </a:p>
        </p:txBody>
      </p:sp>
      <p:sp>
        <p:nvSpPr>
          <p:cNvPr id="100102" name="SurText2-Body"/>
          <p:cNvSpPr txBox="1"/>
          <p:nvPr/>
        </p:nvSpPr>
        <p:spPr>
          <a:xfrm xmlns:a="http://schemas.openxmlformats.org/drawingml/2006/main">
            <a:off x="6534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DCD6C9"/>
                </a:solidFill>
                <a:latin typeface="Calibri"/>
              </a:rPr>
              <a:t>输出极化分数，参与吞噬概率和细胞行为更新。</a:t>
            </a:r>
          </a:p>
        </p:txBody>
      </p:sp>
      <p:sp>
        <p:nvSpPr>
          <p:cNvPr id="100103" name="SurBox3"/>
          <p:cNvSpPr/>
          <p:nvPr/>
        </p:nvSpPr>
        <p:spPr>
          <a:xfrm xmlns:a="http://schemas.openxmlformats.org/drawingml/2006/main">
            <a:off x="9342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35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4" name="SurText3-Title"/>
          <p:cNvSpPr txBox="1"/>
          <p:nvPr/>
        </p:nvSpPr>
        <p:spPr>
          <a:xfrm xmlns:a="http://schemas.openxmlformats.org/drawingml/2006/main">
            <a:off x="9468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FFFFB"/>
                </a:solidFill>
                <a:latin typeface="Georgia"/>
              </a:rPr>
              <a:t>0.3ms</a:t>
            </a:r>
          </a:p>
        </p:txBody>
      </p:sp>
      <p:sp>
        <p:nvSpPr>
          <p:cNvPr id="100105" name="SurText3-Body"/>
          <p:cNvSpPr txBox="1"/>
          <p:nvPr/>
        </p:nvSpPr>
        <p:spPr>
          <a:xfrm xmlns:a="http://schemas.openxmlformats.org/drawingml/2006/main">
            <a:off x="9468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DCD6C9"/>
                </a:solidFill>
                <a:latin typeface="Calibri"/>
              </a:rPr>
              <a:t>ODE 约 847ms → surrogate 推理约 0.3ms。快让「每帧上百细胞决策」成为可能。</a:t>
            </a:r>
          </a:p>
        </p:txBody>
      </p:sp>
      <p:sp>
        <p:nvSpPr>
          <p:cNvPr id="100106" name="SurCue"/>
          <p:cNvSpPr txBox="1"/>
          <p:nvPr/>
        </p:nvSpPr>
        <p:spPr>
          <a:xfrm xmlns:a="http://schemas.openxmlformats.org/drawingml/2006/main">
            <a:off x="540000" y="4896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DCD6C9"/>
                </a:solidFill>
                <a:latin typeface="Calibri"/>
              </a:rPr>
              <a:t>切网站：打开 AI 面板，运行 parameter sweep。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F211C"/>
        </a:solidFill>
      </p:bgPr>
    </p:bg>
    <p:spTree>
      <p:nvGrpSpPr>
        <p:cNvPr id="1" name=""/>
        <p:cNvGrpSpPr/>
        <p:nvPr/>
      </p:nvGrpSpPr>
      <p:grpSpPr/>
      <p:sp>
        <p:nvSpPr>
          <p:cNvPr id="100107" name="SlideNum09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DCD6C9"/>
                </a:solidFill>
                <a:latin typeface="Georgia"/>
                <a:ea typeface="Georgia"/>
              </a:rPr>
              <a:t>09</a:t>
            </a:r>
          </a:p>
        </p:txBody>
      </p:sp>
      <p:sp>
        <p:nvSpPr>
          <p:cNvPr id="100108" name="Eyebrow9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63C0A8"/>
                </a:solidFill>
                <a:latin typeface="Consolas"/>
                <a:ea typeface="Consolas"/>
              </a:rPr>
              <a:t>最后一句</a:t>
            </a:r>
          </a:p>
        </p:txBody>
      </p:sp>
      <p:sp>
        <p:nvSpPr>
          <p:cNvPr id="100109" name="TakeawayFrame"/>
          <p:cNvSpPr/>
          <p:nvPr/>
        </p:nvSpPr>
        <p:spPr>
          <a:xfrm xmlns:a="http://schemas.openxmlformats.org/drawingml/2006/main">
            <a:off x="1260000" y="1620000"/>
            <a:ext cx="9648000" cy="26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>
            <a:solidFill>
              <a:srgbClr val="63C0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0" name="TakeawayTitle"/>
          <p:cNvSpPr txBox="1"/>
          <p:nvPr/>
        </p:nvSpPr>
        <p:spPr>
          <a:xfrm xmlns:a="http://schemas.openxmlformats.org/drawingml/2006/main">
            <a:off x="1584000" y="2034000"/>
            <a:ext cx="90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4200" b="1">
                <a:solidFill>
                  <a:srgbClr val="FFFFFB"/>
                </a:solidFill>
                <a:latin typeface="Georgia"/>
              </a:rPr>
              <a:t>让机制假设先在屏幕上跑起来</a:t>
            </a:r>
          </a:p>
        </p:txBody>
      </p:sp>
      <p:sp>
        <p:nvSpPr>
          <p:cNvPr id="100111" name="TakeawayLead"/>
          <p:cNvSpPr txBox="1"/>
          <p:nvPr/>
        </p:nvSpPr>
        <p:spPr>
          <a:xfrm xmlns:a="http://schemas.openxmlformats.org/drawingml/2006/main">
            <a:off x="1872000" y="3042000"/>
            <a:ext cx="8496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DCD6C9"/>
                </a:solidFill>
                <a:latin typeface="Calibri"/>
              </a:rPr>
              <a:t>下一步不是宣称模型已预测临床，而是把更多实验数据接入参数校准，让 CAR-M 设计、TME 情境和验证实验形成闭环。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OfficeCLI/1.0.129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2026-07-07T13:28:08Z</dcterms:created>
  <cp:lastModifiedBy>OfficeCLI</cp:lastModifiedBy>
  <dcterms:modified xsi:type="dcterms:W3CDTF">2026-07-07T13:28:08Z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1.0.129</vt:lpwstr>
  </op:property>
  <op:property fmtid="{D5CDD505-2E9C-101B-9397-08002B2CF9AE}" pid="3" name="OfficeCLI.LastModified">
    <vt:lpwstr xmlns:vt="http://schemas.openxmlformats.org/officeDocument/2006/docPropsVTypes">2026-07-07T13:35:19Z</vt:lpwstr>
  </op:property>
</op:Properties>
</file>