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0b8c1653a16457b" /><Relationship Type="http://schemas.openxmlformats.org/package/2006/relationships/metadata/core-properties" Target="/docProps/core.xml" Id="R9e3e7e636dfe4d3e" /><Relationship Type="http://schemas.openxmlformats.org/officeDocument/2006/relationships/extended-properties" Target="/docProps/app.xml" Id="Re9c2e81c20124edc" /><Relationship Type="http://schemas.openxmlformats.org/officeDocument/2006/relationships/custom-properties" Target="/docProps/custom.xml" Id="R5ad4ce46a930425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e0b7b4982774da9"/>
    <p:sldId id="257" r:id="R25b8a07f98134763"/>
    <p:sldId id="258" r:id="R0d7f40663c894c09"/>
    <p:sldId id="259" r:id="R2ecdcd4f4e144987"/>
    <p:sldId id="260" r:id="R463e59547e0a4af1"/>
    <p:sldId id="261" r:id="R0509970d71c14a72"/>
    <p:sldId id="262" r:id="R97eea09825b3493c"/>
    <p:sldId id="263" r:id="R5b8b2eb8003f479f"/>
    <p:sldId id="264" r:id="R4302da1c1cc0474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e0b7b4982774da9" /><Relationship Type="http://schemas.openxmlformats.org/officeDocument/2006/relationships/slide" Target="/ppt/slides/slide2.xml" Id="R25b8a07f98134763" /><Relationship Type="http://schemas.openxmlformats.org/officeDocument/2006/relationships/slide" Target="/ppt/slides/slide3.xml" Id="R0d7f40663c894c09" /><Relationship Type="http://schemas.openxmlformats.org/officeDocument/2006/relationships/slide" Target="/ppt/slides/slide4.xml" Id="R2ecdcd4f4e144987" /><Relationship Type="http://schemas.openxmlformats.org/officeDocument/2006/relationships/slide" Target="/ppt/slides/slide5.xml" Id="R463e59547e0a4af1" /><Relationship Type="http://schemas.openxmlformats.org/officeDocument/2006/relationships/slide" Target="/ppt/slides/slide6.xml" Id="R0509970d71c14a72" /><Relationship Type="http://schemas.openxmlformats.org/officeDocument/2006/relationships/slide" Target="/ppt/slides/slide7.xml" Id="R97eea09825b3493c" /><Relationship Type="http://schemas.openxmlformats.org/officeDocument/2006/relationships/slide" Target="/ppt/slides/slide8.xml" Id="R5b8b2eb8003f479f" /><Relationship Type="http://schemas.openxmlformats.org/officeDocument/2006/relationships/slide" Target="/ppt/slides/slide9.xml" Id="R4302da1c1cc0474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 30 秒：先说今天不是单纯介绍网页，而是用网页演示一个可交互的假设生成平台。提示观众后面会切到网站看模拟、参数和指标。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这一页不要讲太久。目的只是建立问题：为什么需要模拟。用一句话过渡到我们做的是一个可运行的平台，而不是静态综述。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这一页是防守性表述。导师和同学可能会问这个模拟准不准，先主动说明边界：机制启发、趋势探索、需要实验校准。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这一页后可以第一次切到网站。不要逐个解释所有按钮，只演示运行模拟和看指标变化。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这里用 60 秒讲不是只做 UI。强调有模型层、状态更新、扩散场和实时统计。不要陷入每个库的细节。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这一页使用原 PPT 的临床数字。讲法要谨慎：这是 contextual anchor，不是本模拟的验证结果。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这是最重要的讲述页。网站演示时不要随机探索，按这条路线走，时间更稳。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这页讲技术亮点。不要只说快，要说快使得每帧多细胞决策成为可能。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收尾时回到导师和同学场景：希望得到对科学边界、参数来源和后续实验验证的建议。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0f895e99042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2d5932cf749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7dffb31d84a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1731061314a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c894be3dd4c3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78737d950db4b5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640adeab64759" /><Relationship Type="http://schemas.openxmlformats.org/officeDocument/2006/relationships/notesSlide" Target="/ppt/notesSlides/notesSlide1.xml" Id="Re382323f3be4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e8ff9d7ee4954" /><Relationship Type="http://schemas.openxmlformats.org/officeDocument/2006/relationships/notesSlide" Target="/ppt/notesSlides/notesSlide2.xml" Id="R9884a9978d3d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d4dbb64f44e2" /><Relationship Type="http://schemas.openxmlformats.org/officeDocument/2006/relationships/notesSlide" Target="/ppt/notesSlides/notesSlide3.xml" Id="Re9356f0597c74e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7773840fc43a5" /><Relationship Type="http://schemas.openxmlformats.org/officeDocument/2006/relationships/notesSlide" Target="/ppt/notesSlides/notesSlide4.xml" Id="R6dc66b45677f47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84e29e465476b" /><Relationship Type="http://schemas.openxmlformats.org/officeDocument/2006/relationships/notesSlide" Target="/ppt/notesSlides/notesSlide5.xml" Id="Rbd43c13ddf47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fef4c60b3470b" /><Relationship Type="http://schemas.openxmlformats.org/officeDocument/2006/relationships/notesSlide" Target="/ppt/notesSlides/notesSlide6.xml" Id="R4a843918614149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6eb2a36be47e6" /><Relationship Type="http://schemas.openxmlformats.org/officeDocument/2006/relationships/notesSlide" Target="/ppt/notesSlides/notesSlide7.xml" Id="R4d5c86b552b2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dfafea3064040" /><Relationship Type="http://schemas.openxmlformats.org/officeDocument/2006/relationships/notesSlide" Target="/ppt/notesSlides/notesSlide8.xml" Id="R1ba4fd492015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a3f073757453d" /><Relationship Type="http://schemas.openxmlformats.org/officeDocument/2006/relationships/notesSlide" Target="/ppt/notesSlides/notesSlide9.xml" Id="R11a1b1ec1a3c44d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00" name="SlideNum01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01" name="Eyebrow1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科研项目展示 · 网站 Demo 主导</a:t>
            </a:r>
          </a:p>
        </p:txBody>
      </p:sp>
      <p:sp>
        <p:nvSpPr>
          <p:cNvPr id="100002" name="CoverBand"/>
          <p:cNvSpPr/>
          <p:nvPr/>
        </p:nvSpPr>
        <p:spPr>
          <a:xfrm xmlns:a="http://schemas.openxmlformats.org/drawingml/2006/main">
            <a:off x="540000" y="1728000"/>
            <a:ext cx="576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CoverTitle"/>
          <p:cNvSpPr txBox="1"/>
          <p:nvPr/>
        </p:nvSpPr>
        <p:spPr>
          <a:xfrm xmlns:a="http://schemas.openxmlformats.org/drawingml/2006/main">
            <a:off x="756000" y="1800000"/>
            <a:ext cx="684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1F211C"/>
                </a:solidFill>
                <a:latin typeface="Georgia"/>
                <a:ea typeface="Georgia"/>
              </a:rPr>
              <a:t>CAR-M Simulator</a:t>
            </a:r>
          </a:p>
        </p:txBody>
      </p:sp>
      <p:sp>
        <p:nvSpPr>
          <p:cNvPr id="100004" name="CoverLead"/>
          <p:cNvSpPr txBox="1"/>
          <p:nvPr/>
        </p:nvSpPr>
        <p:spPr>
          <a:xfrm xmlns:a="http://schemas.openxmlformats.org/drawingml/2006/main">
            <a:off x="774000" y="2898000"/>
            <a:ext cx="79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45423B"/>
                </a:solidFill>
                <a:latin typeface="Calibri"/>
                <a:ea typeface="Calibri"/>
              </a:rPr>
              <a:t>用于探索 CAR-engineered macrophage 在肿瘤微环境中行为动态的机制启发型 Web 平台。</a:t>
            </a:r>
          </a:p>
        </p:txBody>
      </p:sp>
      <p:sp>
        <p:nvSpPr>
          <p:cNvPr id="100005" name="CoverMeta"/>
          <p:cNvSpPr txBox="1"/>
          <p:nvPr/>
        </p:nvSpPr>
        <p:spPr>
          <a:xfrm xmlns:a="http://schemas.openxmlformats.org/drawingml/2006/main">
            <a:off x="774000" y="3690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45423B"/>
                </a:solidFill>
                <a:latin typeface="Calibri"/>
                <a:ea typeface="Calibri"/>
              </a:rPr>
              <a:t>AI Virtual Cell Platform · Computational Immunology &amp; Systems Biology</a:t>
            </a:r>
          </a:p>
        </p:txBody>
      </p:sp>
      <p:sp>
        <p:nvSpPr>
          <p:cNvPr id="100006" name="CoverVisualFrame"/>
          <p:cNvSpPr/>
          <p:nvPr/>
        </p:nvSpPr>
        <p:spPr>
          <a:xfrm xmlns:a="http://schemas.openxmlformats.org/drawingml/2006/main">
            <a:off x="8604000" y="1728000"/>
            <a:ext cx="2664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CoverVisualCells"/>
          <p:cNvSpPr txBox="1"/>
          <p:nvPr/>
        </p:nvSpPr>
        <p:spPr>
          <a:xfrm xmlns:a="http://schemas.openxmlformats.org/drawingml/2006/main">
            <a:off x="8874000" y="2160000"/>
            <a:ext cx="212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ABM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TME</a:t>
            </a:r>
          </a:p>
          <a:p xmlns:a="http://schemas.openxmlformats.org/drawingml/2006/main">
            <a:pPr algn="ctr"/>
            <a:r>
              <a:rPr lang="en-US" sz="2100" b="1">
                <a:solidFill>
                  <a:srgbClr val="16806F"/>
                </a:solidFill>
                <a:latin typeface="Consolas"/>
                <a:ea typeface="Consolas"/>
              </a:rPr>
              <a:t>CAR-M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08" name="SlideNum02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009" name="Eyebrow2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背景问题</a:t>
            </a:r>
          </a:p>
        </p:txBody>
      </p:sp>
      <p:sp>
        <p:nvSpPr>
          <p:cNvPr id="100010" name="Title2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F211C"/>
                </a:solidFill>
                <a:latin typeface="Georgia"/>
                <a:ea typeface="Georgia"/>
              </a:rPr>
              <a:t>实体瘤免疫治疗的建模问题</a:t>
            </a:r>
          </a:p>
        </p:txBody>
      </p:sp>
      <p:sp>
        <p:nvSpPr>
          <p:cNvPr id="100011" name="ChallengeLead"/>
          <p:cNvSpPr txBox="1"/>
          <p:nvPr/>
        </p:nvSpPr>
        <p:spPr>
          <a:xfrm xmlns:a="http://schemas.openxmlformats.org/drawingml/2006/main">
            <a:off x="540000" y="1278000"/>
            <a:ext cx="864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45423B"/>
                </a:solidFill>
                <a:latin typeface="Calibri"/>
                <a:ea typeface="Calibri"/>
              </a:rPr>
              <a:t>CAR-T 在实体瘤中常受限于浸润不足、免疫抑制性 TME、抗原异质性和毒性管理。CAR-M 的价值在于：它天然进入实体组织，并同时承担吞噬、抗原呈递与微环境重塑。</a:t>
            </a:r>
          </a:p>
        </p:txBody>
      </p:sp>
      <p:sp>
        <p:nvSpPr>
          <p:cNvPr id="100012" name="ChallengePanel0"/>
          <p:cNvSpPr/>
          <p:nvPr/>
        </p:nvSpPr>
        <p:spPr>
          <a:xfrm xmlns:a="http://schemas.openxmlformats.org/drawingml/2006/main">
            <a:off x="540000" y="2484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ChallengeText0-Title"/>
          <p:cNvSpPr txBox="1"/>
          <p:nvPr/>
        </p:nvSpPr>
        <p:spPr>
          <a:xfrm xmlns:a="http://schemas.openxmlformats.org/drawingml/2006/main">
            <a:off x="774000" y="2574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障碍</a:t>
            </a:r>
          </a:p>
        </p:txBody>
      </p:sp>
      <p:sp>
        <p:nvSpPr>
          <p:cNvPr id="100014" name="ChallengeText0-Body"/>
          <p:cNvSpPr txBox="1"/>
          <p:nvPr/>
        </p:nvSpPr>
        <p:spPr>
          <a:xfrm xmlns:a="http://schemas.openxmlformats.org/drawingml/2006/main">
            <a:off x="774000" y="3024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抑制性细胞因子、低氧/乳酸、ECM 屏障会改变免疫细胞行为。</a:t>
            </a:r>
          </a:p>
        </p:txBody>
      </p:sp>
      <p:sp>
        <p:nvSpPr>
          <p:cNvPr id="100015" name="ChallengePanel1"/>
          <p:cNvSpPr/>
          <p:nvPr/>
        </p:nvSpPr>
        <p:spPr>
          <a:xfrm xmlns:a="http://schemas.openxmlformats.org/drawingml/2006/main">
            <a:off x="540000" y="3438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ChallengeText1-Title"/>
          <p:cNvSpPr txBox="1"/>
          <p:nvPr/>
        </p:nvSpPr>
        <p:spPr>
          <a:xfrm xmlns:a="http://schemas.openxmlformats.org/drawingml/2006/main">
            <a:off x="774000" y="3528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机会</a:t>
            </a:r>
          </a:p>
        </p:txBody>
      </p:sp>
      <p:sp>
        <p:nvSpPr>
          <p:cNvPr id="100017" name="ChallengeText1-Body"/>
          <p:cNvSpPr txBox="1"/>
          <p:nvPr/>
        </p:nvSpPr>
        <p:spPr>
          <a:xfrm xmlns:a="http://schemas.openxmlformats.org/drawingml/2006/main">
            <a:off x="774000" y="3978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巨噬细胞的极化状态和吞噬概率可以被工程化设计影响。</a:t>
            </a:r>
          </a:p>
        </p:txBody>
      </p:sp>
      <p:sp>
        <p:nvSpPr>
          <p:cNvPr id="100018" name="ChallengePanel2"/>
          <p:cNvSpPr/>
          <p:nvPr/>
        </p:nvSpPr>
        <p:spPr>
          <a:xfrm xmlns:a="http://schemas.openxmlformats.org/drawingml/2006/main">
            <a:off x="540000" y="4392000"/>
            <a:ext cx="10620000" cy="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ChallengeText2-Title"/>
          <p:cNvSpPr txBox="1"/>
          <p:nvPr/>
        </p:nvSpPr>
        <p:spPr>
          <a:xfrm xmlns:a="http://schemas.openxmlformats.org/drawingml/2006/main">
            <a:off x="774000" y="4482000"/>
            <a:ext cx="9900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展示目标</a:t>
            </a:r>
          </a:p>
        </p:txBody>
      </p:sp>
      <p:sp>
        <p:nvSpPr>
          <p:cNvPr id="100020" name="ChallengeText2-Body"/>
          <p:cNvSpPr txBox="1"/>
          <p:nvPr/>
        </p:nvSpPr>
        <p:spPr>
          <a:xfrm xmlns:a="http://schemas.openxmlformats.org/drawingml/2006/main">
            <a:off x="774000" y="4932000"/>
            <a:ext cx="99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把机制假设转成可以调参、运行、比较的交互系统。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21" name="SlideNum03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022" name="Eyebrow3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核心定位</a:t>
            </a:r>
          </a:p>
        </p:txBody>
      </p:sp>
      <p:sp>
        <p:nvSpPr>
          <p:cNvPr id="100023" name="PositionFrame"/>
          <p:cNvSpPr/>
          <p:nvPr/>
        </p:nvSpPr>
        <p:spPr>
          <a:xfrm xmlns:a="http://schemas.openxmlformats.org/drawingml/2006/main">
            <a:off x="1440000" y="1512000"/>
            <a:ext cx="9288000" cy="24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PositionTitle"/>
          <p:cNvSpPr txBox="1"/>
          <p:nvPr/>
        </p:nvSpPr>
        <p:spPr>
          <a:xfrm xmlns:a="http://schemas.openxmlformats.org/drawingml/2006/main">
            <a:off x="1728000" y="1872000"/>
            <a:ext cx="871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B"/>
                </a:solidFill>
                <a:latin typeface="Georgia"/>
                <a:ea typeface="Georgia"/>
              </a:rPr>
              <a:t>机制趋势，不是临床预测</a:t>
            </a:r>
          </a:p>
        </p:txBody>
      </p:sp>
      <p:sp>
        <p:nvSpPr>
          <p:cNvPr id="100025" name="PositionLead"/>
          <p:cNvSpPr txBox="1"/>
          <p:nvPr/>
        </p:nvSpPr>
        <p:spPr>
          <a:xfrm xmlns:a="http://schemas.openxmlformats.org/drawingml/2006/main">
            <a:off x="1944000" y="2844000"/>
            <a:ext cx="82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DCD6C9"/>
                </a:solidFill>
                <a:latin typeface="Calibri"/>
                <a:ea typeface="Calibri"/>
              </a:rPr>
              <a:t>平台把 CAR 设计、TME 条件、细胞行为和实时指标连接起来，用于比较机制趋势，而不是替代实验或临床判断。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26" name="SlideNum04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0027" name="Eyebrow4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现场网站怎么看</a:t>
            </a:r>
          </a:p>
        </p:txBody>
      </p:sp>
      <p:sp>
        <p:nvSpPr>
          <p:cNvPr id="100028" name="Title4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F211C"/>
                </a:solidFill>
                <a:latin typeface="Georgia"/>
                <a:ea typeface="Georgia"/>
              </a:rPr>
              <a:t>Demo 时请盯住三个变化</a:t>
            </a:r>
          </a:p>
        </p:txBody>
      </p:sp>
      <p:sp>
        <p:nvSpPr>
          <p:cNvPr id="100029" name="FocusPanel0"/>
          <p:cNvSpPr/>
          <p:nvPr/>
        </p:nvSpPr>
        <p:spPr>
          <a:xfrm xmlns:a="http://schemas.openxmlformats.org/drawingml/2006/main">
            <a:off x="540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FocusNum0"/>
          <p:cNvSpPr txBox="1"/>
          <p:nvPr/>
        </p:nvSpPr>
        <p:spPr>
          <a:xfrm xmlns:a="http://schemas.openxmlformats.org/drawingml/2006/main">
            <a:off x="540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16806F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00031" name="FocusText0-Title"/>
          <p:cNvSpPr txBox="1"/>
          <p:nvPr/>
        </p:nvSpPr>
        <p:spPr>
          <a:xfrm xmlns:a="http://schemas.openxmlformats.org/drawingml/2006/main">
            <a:off x="666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细胞行为</a:t>
            </a:r>
          </a:p>
        </p:txBody>
      </p:sp>
      <p:sp>
        <p:nvSpPr>
          <p:cNvPr id="100032" name="FocusText0-Body"/>
          <p:cNvSpPr txBox="1"/>
          <p:nvPr/>
        </p:nvSpPr>
        <p:spPr>
          <a:xfrm xmlns:a="http://schemas.openxmlformats.org/drawingml/2006/main">
            <a:off x="666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CAR-M、肿瘤细胞、野生型巨噬细胞和 CD8+ T 细胞在同一 TME 中实时运动、相互作用。</a:t>
            </a:r>
          </a:p>
        </p:txBody>
      </p:sp>
      <p:sp>
        <p:nvSpPr>
          <p:cNvPr id="100033" name="FocusPanel1"/>
          <p:cNvSpPr/>
          <p:nvPr/>
        </p:nvSpPr>
        <p:spPr>
          <a:xfrm xmlns:a="http://schemas.openxmlformats.org/drawingml/2006/main">
            <a:off x="4194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FocusNum1"/>
          <p:cNvSpPr txBox="1"/>
          <p:nvPr/>
        </p:nvSpPr>
        <p:spPr>
          <a:xfrm xmlns:a="http://schemas.openxmlformats.org/drawingml/2006/main">
            <a:off x="4194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6E6A61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00035" name="FocusText1-Title"/>
          <p:cNvSpPr txBox="1"/>
          <p:nvPr/>
        </p:nvSpPr>
        <p:spPr>
          <a:xfrm xmlns:a="http://schemas.openxmlformats.org/drawingml/2006/main">
            <a:off x="4320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模型输入</a:t>
            </a:r>
          </a:p>
        </p:txBody>
      </p:sp>
      <p:sp>
        <p:nvSpPr>
          <p:cNvPr id="100036" name="FocusText1-Body"/>
          <p:cNvSpPr txBox="1"/>
          <p:nvPr/>
        </p:nvSpPr>
        <p:spPr>
          <a:xfrm xmlns:a="http://schemas.openxmlformats.org/drawingml/2006/main">
            <a:off x="4320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CAR 信号域、抗原、亲和力、CD47/SIRPα 阻断和 TME 条件会改变模拟输入。</a:t>
            </a:r>
          </a:p>
        </p:txBody>
      </p:sp>
      <p:sp>
        <p:nvSpPr>
          <p:cNvPr id="100037" name="FocusPanel2"/>
          <p:cNvSpPr/>
          <p:nvPr/>
        </p:nvSpPr>
        <p:spPr>
          <a:xfrm xmlns:a="http://schemas.openxmlformats.org/drawingml/2006/main">
            <a:off x="7848000" y="1836000"/>
            <a:ext cx="3186000" cy="23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FocusNum2"/>
          <p:cNvSpPr txBox="1"/>
          <p:nvPr/>
        </p:nvSpPr>
        <p:spPr>
          <a:xfrm xmlns:a="http://schemas.openxmlformats.org/drawingml/2006/main">
            <a:off x="7848000" y="1962000"/>
            <a:ext cx="318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6E6A61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00039" name="FocusText2-Title"/>
          <p:cNvSpPr txBox="1"/>
          <p:nvPr/>
        </p:nvSpPr>
        <p:spPr>
          <a:xfrm xmlns:a="http://schemas.openxmlformats.org/drawingml/2006/main">
            <a:off x="7974000" y="2520000"/>
            <a:ext cx="2934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结果反馈</a:t>
            </a:r>
          </a:p>
        </p:txBody>
      </p:sp>
      <p:sp>
        <p:nvSpPr>
          <p:cNvPr id="100040" name="FocusText2-Body"/>
          <p:cNvSpPr txBox="1"/>
          <p:nvPr/>
        </p:nvSpPr>
        <p:spPr>
          <a:xfrm xmlns:a="http://schemas.openxmlformats.org/drawingml/2006/main">
            <a:off x="7974000" y="2970000"/>
            <a:ext cx="2934000" cy="11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Dashboard 追踪肿瘤数量、吞噬率、M1/M2 比例和 CD8+ T 细胞活化趋势。</a:t>
            </a:r>
          </a:p>
        </p:txBody>
      </p:sp>
      <p:sp>
        <p:nvSpPr>
          <p:cNvPr id="100041" name="FocusCue"/>
          <p:cNvSpPr txBox="1"/>
          <p:nvPr/>
        </p:nvSpPr>
        <p:spPr>
          <a:xfrm xmlns:a="http://schemas.openxmlformats.org/drawingml/2006/main">
            <a:off x="540000" y="4770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切网站：进入 Simulation Workbench，先播放默认场景，再打开右侧 Metrics 面板。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42" name="SlideNum05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100043" name="Eyebrow5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系统架构</a:t>
            </a:r>
          </a:p>
        </p:txBody>
      </p:sp>
      <p:sp>
        <p:nvSpPr>
          <p:cNvPr id="100044" name="Title5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B"/>
                </a:solidFill>
                <a:latin typeface="Georgia"/>
                <a:ea typeface="Georgia"/>
              </a:rPr>
              <a:t>四层把生物知识、机器学习和可交互模拟接起来</a:t>
            </a:r>
          </a:p>
        </p:txBody>
      </p:sp>
      <p:sp>
        <p:nvSpPr>
          <p:cNvPr id="100045" name="ArchBox0"/>
          <p:cNvSpPr/>
          <p:nvPr/>
        </p:nvSpPr>
        <p:spPr>
          <a:xfrm xmlns:a="http://schemas.openxmlformats.org/drawingml/2006/main">
            <a:off x="54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ArchNum0"/>
          <p:cNvSpPr txBox="1"/>
          <p:nvPr/>
        </p:nvSpPr>
        <p:spPr>
          <a:xfrm xmlns:a="http://schemas.openxmlformats.org/drawingml/2006/main">
            <a:off x="66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0047" name="ArchText0-Title"/>
          <p:cNvSpPr txBox="1"/>
          <p:nvPr/>
        </p:nvSpPr>
        <p:spPr>
          <a:xfrm xmlns:a="http://schemas.openxmlformats.org/drawingml/2006/main">
            <a:off x="66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Data Layer</a:t>
            </a:r>
          </a:p>
        </p:txBody>
      </p:sp>
      <p:sp>
        <p:nvSpPr>
          <p:cNvPr id="100048" name="ArchText0-Body"/>
          <p:cNvSpPr txBox="1"/>
          <p:nvPr/>
        </p:nvSpPr>
        <p:spPr>
          <a:xfrm xmlns:a="http://schemas.openxmlformats.org/drawingml/2006/main">
            <a:off x="66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scRNA-seq / TAM atlas / 通路与结构参考。</a:t>
            </a:r>
          </a:p>
        </p:txBody>
      </p:sp>
      <p:sp>
        <p:nvSpPr>
          <p:cNvPr id="100049" name="ArchBox1"/>
          <p:cNvSpPr/>
          <p:nvPr/>
        </p:nvSpPr>
        <p:spPr>
          <a:xfrm xmlns:a="http://schemas.openxmlformats.org/drawingml/2006/main">
            <a:off x="342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ArchNum1"/>
          <p:cNvSpPr txBox="1"/>
          <p:nvPr/>
        </p:nvSpPr>
        <p:spPr>
          <a:xfrm xmlns:a="http://schemas.openxmlformats.org/drawingml/2006/main">
            <a:off x="354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00051" name="ArchText1-Title"/>
          <p:cNvSpPr txBox="1"/>
          <p:nvPr/>
        </p:nvSpPr>
        <p:spPr>
          <a:xfrm xmlns:a="http://schemas.openxmlformats.org/drawingml/2006/main">
            <a:off x="3546000" y="2772000"/>
            <a:ext cx="235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AI / ML Layer</a:t>
            </a:r>
          </a:p>
        </p:txBody>
      </p:sp>
      <p:sp>
        <p:nvSpPr>
          <p:cNvPr id="100052" name="ArchText1-Body"/>
          <p:cNvSpPr txBox="1"/>
          <p:nvPr/>
        </p:nvSpPr>
        <p:spPr>
          <a:xfrm xmlns:a="http://schemas.openxmlformats.org/drawingml/2006/main">
            <a:off x="354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scVI + CellForge 思路 + surrogate。</a:t>
            </a:r>
          </a:p>
        </p:txBody>
      </p:sp>
      <p:sp>
        <p:nvSpPr>
          <p:cNvPr id="100053" name="ArchBox2"/>
          <p:cNvSpPr/>
          <p:nvPr/>
        </p:nvSpPr>
        <p:spPr>
          <a:xfrm xmlns:a="http://schemas.openxmlformats.org/drawingml/2006/main">
            <a:off x="630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ArchNum2"/>
          <p:cNvSpPr txBox="1"/>
          <p:nvPr/>
        </p:nvSpPr>
        <p:spPr>
          <a:xfrm xmlns:a="http://schemas.openxmlformats.org/drawingml/2006/main">
            <a:off x="642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00055" name="ArchText2-Title"/>
          <p:cNvSpPr txBox="1"/>
          <p:nvPr/>
        </p:nvSpPr>
        <p:spPr>
          <a:xfrm xmlns:a="http://schemas.openxmlformats.org/drawingml/2006/main">
            <a:off x="642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Simulation Layer</a:t>
            </a:r>
          </a:p>
        </p:txBody>
      </p:sp>
      <p:sp>
        <p:nvSpPr>
          <p:cNvPr id="100056" name="ArchText2-Body"/>
          <p:cNvSpPr txBox="1"/>
          <p:nvPr/>
        </p:nvSpPr>
        <p:spPr>
          <a:xfrm xmlns:a="http://schemas.openxmlformats.org/drawingml/2006/main">
            <a:off x="642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ABM、扩散场、极化 ODE、吞噬概率。</a:t>
            </a:r>
          </a:p>
        </p:txBody>
      </p:sp>
      <p:sp>
        <p:nvSpPr>
          <p:cNvPr id="100057" name="ArchBox3"/>
          <p:cNvSpPr/>
          <p:nvPr/>
        </p:nvSpPr>
        <p:spPr>
          <a:xfrm xmlns:a="http://schemas.openxmlformats.org/drawingml/2006/main">
            <a:off x="9180000" y="2232000"/>
            <a:ext cx="2592000" cy="22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24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ArchNum3"/>
          <p:cNvSpPr txBox="1"/>
          <p:nvPr/>
        </p:nvSpPr>
        <p:spPr>
          <a:xfrm xmlns:a="http://schemas.openxmlformats.org/drawingml/2006/main">
            <a:off x="9306000" y="2394000"/>
            <a:ext cx="4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3C0A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00059" name="ArchText3-Title"/>
          <p:cNvSpPr txBox="1"/>
          <p:nvPr/>
        </p:nvSpPr>
        <p:spPr>
          <a:xfrm xmlns:a="http://schemas.openxmlformats.org/drawingml/2006/main">
            <a:off x="9306000" y="2772000"/>
            <a:ext cx="2358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Application Layer</a:t>
            </a:r>
          </a:p>
        </p:txBody>
      </p:sp>
      <p:sp>
        <p:nvSpPr>
          <p:cNvPr id="100060" name="ArchText3-Body"/>
          <p:cNvSpPr txBox="1"/>
          <p:nvPr/>
        </p:nvSpPr>
        <p:spPr>
          <a:xfrm xmlns:a="http://schemas.openxmlformats.org/drawingml/2006/main">
            <a:off x="9306000" y="3510000"/>
            <a:ext cx="2358000" cy="8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React、Canvas / Three.js、Chart.js。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64" name="SlideNum06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100065" name="Eyebrow6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临床背景锚点</a:t>
            </a:r>
          </a:p>
        </p:txBody>
      </p:sp>
      <p:sp>
        <p:nvSpPr>
          <p:cNvPr id="100066" name="ClinicalZero"/>
          <p:cNvSpPr txBox="1"/>
          <p:nvPr/>
        </p:nvSpPr>
        <p:spPr>
          <a:xfrm xmlns:a="http://schemas.openxmlformats.org/drawingml/2006/main">
            <a:off x="540000" y="1188000"/>
            <a:ext cx="432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800" b="1">
                <a:solidFill>
                  <a:srgbClr val="16806F"/>
                </a:solidFill>
                <a:latin typeface="Georgia"/>
                <a:ea typeface="Georgia"/>
              </a:rPr>
              <a:t>0%</a:t>
            </a:r>
          </a:p>
        </p:txBody>
      </p:sp>
      <p:sp>
        <p:nvSpPr>
          <p:cNvPr id="100067" name="ClinicalCaption"/>
          <p:cNvSpPr txBox="1"/>
          <p:nvPr/>
        </p:nvSpPr>
        <p:spPr>
          <a:xfrm xmlns:a="http://schemas.openxmlformats.org/drawingml/2006/main">
            <a:off x="648000" y="2790000"/>
            <a:ext cx="612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45423B"/>
                </a:solidFill>
                <a:latin typeface="Calibri"/>
                <a:ea typeface="Calibri"/>
              </a:rPr>
              <a:t>CT-0508 早期报告中 Grade ≥3 CRS 为 0%；本项目只把这些结果作为临床背景和场景设计参考。</a:t>
            </a:r>
          </a:p>
        </p:txBody>
      </p:sp>
      <p:sp>
        <p:nvSpPr>
          <p:cNvPr id="100068" name="MetricPanel0"/>
          <p:cNvSpPr/>
          <p:nvPr/>
        </p:nvSpPr>
        <p:spPr>
          <a:xfrm xmlns:a="http://schemas.openxmlformats.org/drawingml/2006/main">
            <a:off x="720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MetricNum0"/>
          <p:cNvSpPr txBox="1"/>
          <p:nvPr/>
        </p:nvSpPr>
        <p:spPr>
          <a:xfrm xmlns:a="http://schemas.openxmlformats.org/drawingml/2006/main">
            <a:off x="720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14</a:t>
            </a:r>
          </a:p>
        </p:txBody>
      </p:sp>
      <p:sp>
        <p:nvSpPr>
          <p:cNvPr id="100070" name="MetricLab0"/>
          <p:cNvSpPr txBox="1"/>
          <p:nvPr/>
        </p:nvSpPr>
        <p:spPr>
          <a:xfrm xmlns:a="http://schemas.openxmlformats.org/drawingml/2006/main">
            <a:off x="720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patients</a:t>
            </a:r>
          </a:p>
        </p:txBody>
      </p:sp>
      <p:sp>
        <p:nvSpPr>
          <p:cNvPr id="100071" name="MetricPanel1"/>
          <p:cNvSpPr/>
          <p:nvPr/>
        </p:nvSpPr>
        <p:spPr>
          <a:xfrm xmlns:a="http://schemas.openxmlformats.org/drawingml/2006/main">
            <a:off x="3438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MetricNum1"/>
          <p:cNvSpPr txBox="1"/>
          <p:nvPr/>
        </p:nvSpPr>
        <p:spPr>
          <a:xfrm xmlns:a="http://schemas.openxmlformats.org/drawingml/2006/main">
            <a:off x="3438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0%</a:t>
            </a:r>
          </a:p>
        </p:txBody>
      </p:sp>
      <p:sp>
        <p:nvSpPr>
          <p:cNvPr id="100073" name="MetricLab1"/>
          <p:cNvSpPr txBox="1"/>
          <p:nvPr/>
        </p:nvSpPr>
        <p:spPr>
          <a:xfrm xmlns:a="http://schemas.openxmlformats.org/drawingml/2006/main">
            <a:off x="3438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CRS ≥G3</a:t>
            </a:r>
          </a:p>
        </p:txBody>
      </p:sp>
      <p:sp>
        <p:nvSpPr>
          <p:cNvPr id="100074" name="MetricPanel2"/>
          <p:cNvSpPr/>
          <p:nvPr/>
        </p:nvSpPr>
        <p:spPr>
          <a:xfrm xmlns:a="http://schemas.openxmlformats.org/drawingml/2006/main">
            <a:off x="6156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MetricNum2"/>
          <p:cNvSpPr txBox="1"/>
          <p:nvPr/>
        </p:nvSpPr>
        <p:spPr>
          <a:xfrm xmlns:a="http://schemas.openxmlformats.org/drawingml/2006/main">
            <a:off x="6156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44%</a:t>
            </a:r>
          </a:p>
        </p:txBody>
      </p:sp>
      <p:sp>
        <p:nvSpPr>
          <p:cNvPr id="100076" name="MetricLab2"/>
          <p:cNvSpPr txBox="1"/>
          <p:nvPr/>
        </p:nvSpPr>
        <p:spPr>
          <a:xfrm xmlns:a="http://schemas.openxmlformats.org/drawingml/2006/main">
            <a:off x="6156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stable disease</a:t>
            </a:r>
          </a:p>
        </p:txBody>
      </p:sp>
      <p:sp>
        <p:nvSpPr>
          <p:cNvPr id="100077" name="MetricPanel3"/>
          <p:cNvSpPr/>
          <p:nvPr/>
        </p:nvSpPr>
        <p:spPr>
          <a:xfrm xmlns:a="http://schemas.openxmlformats.org/drawingml/2006/main">
            <a:off x="8874000" y="4176000"/>
            <a:ext cx="226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MetricNum3"/>
          <p:cNvSpPr txBox="1"/>
          <p:nvPr/>
        </p:nvSpPr>
        <p:spPr>
          <a:xfrm xmlns:a="http://schemas.openxmlformats.org/drawingml/2006/main">
            <a:off x="8874000" y="4338000"/>
            <a:ext cx="226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1F211C"/>
                </a:solidFill>
                <a:latin typeface="Consolas"/>
                <a:ea typeface="Consolas"/>
              </a:rPr>
              <a:t>-20%</a:t>
            </a:r>
          </a:p>
        </p:txBody>
      </p:sp>
      <p:sp>
        <p:nvSpPr>
          <p:cNvPr id="100079" name="MetricLab3"/>
          <p:cNvSpPr txBox="1"/>
          <p:nvPr/>
        </p:nvSpPr>
        <p:spPr>
          <a:xfrm xmlns:a="http://schemas.openxmlformats.org/drawingml/2006/main">
            <a:off x="8874000" y="4770000"/>
            <a:ext cx="2268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6E6A61"/>
                </a:solidFill>
                <a:latin typeface="Calibri"/>
                <a:ea typeface="Calibri"/>
              </a:rPr>
              <a:t>best response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/>
      <p:sp>
        <p:nvSpPr>
          <p:cNvPr id="100080" name="SlideNum07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6E6A61"/>
                </a:solidFill>
                <a:latin typeface="Georgia"/>
                <a:ea typeface="Georgia"/>
              </a:rPr>
              <a:t>07</a:t>
            </a:r>
          </a:p>
        </p:txBody>
      </p:sp>
      <p:sp>
        <p:nvSpPr>
          <p:cNvPr id="100081" name="Eyebrow7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16806F"/>
                </a:solidFill>
                <a:latin typeface="Consolas"/>
                <a:ea typeface="Consolas"/>
              </a:rPr>
              <a:t>演示路线</a:t>
            </a:r>
          </a:p>
        </p:txBody>
      </p:sp>
      <p:sp>
        <p:nvSpPr>
          <p:cNvPr id="100082" name="Title7"/>
          <p:cNvSpPr txBox="1"/>
          <p:nvPr/>
        </p:nvSpPr>
        <p:spPr>
          <a:xfrm xmlns:a="http://schemas.openxmlformats.org/drawingml/2006/main">
            <a:off x="540000" y="450000"/>
            <a:ext cx="892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F211C"/>
                </a:solidFill>
                <a:latin typeface="Georgia"/>
                <a:ea typeface="Georgia"/>
              </a:rPr>
              <a:t>按基线到调参再到对比的路线走</a:t>
            </a:r>
          </a:p>
        </p:txBody>
      </p:sp>
      <p:sp>
        <p:nvSpPr>
          <p:cNvPr id="100083" name="RouteLeft"/>
          <p:cNvSpPr/>
          <p:nvPr/>
        </p:nvSpPr>
        <p:spPr>
          <a:xfrm xmlns:a="http://schemas.openxmlformats.org/drawingml/2006/main">
            <a:off x="54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DED8C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RouteRight"/>
          <p:cNvSpPr/>
          <p:nvPr/>
        </p:nvSpPr>
        <p:spPr>
          <a:xfrm xmlns:a="http://schemas.openxmlformats.org/drawingml/2006/main">
            <a:off x="6120000" y="1836000"/>
            <a:ext cx="5184000" cy="24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B"/>
          </a:solidFill>
          <a:ln xmlns:a="http://schemas.openxmlformats.org/drawingml/2006/main">
            <a:solidFill>
              <a:srgbClr val="16806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RouteA-Title"/>
          <p:cNvSpPr txBox="1"/>
          <p:nvPr/>
        </p:nvSpPr>
        <p:spPr>
          <a:xfrm xmlns:a="http://schemas.openxmlformats.org/drawingml/2006/main">
            <a:off x="79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先建立共同语境</a:t>
            </a:r>
          </a:p>
        </p:txBody>
      </p:sp>
      <p:sp>
        <p:nvSpPr>
          <p:cNvPr id="100086" name="RouteA-Body"/>
          <p:cNvSpPr txBox="1"/>
          <p:nvPr/>
        </p:nvSpPr>
        <p:spPr>
          <a:xfrm xmlns:a="http://schemas.openxmlformats.org/drawingml/2006/main">
            <a:off x="792000" y="2538000"/>
            <a:ext cx="460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运行 CT-0508-inspired baseline，展示默认细胞组成、CAR-M 数量、肿瘤细胞数量、TGF-β 和随机种子。</a:t>
            </a:r>
          </a:p>
        </p:txBody>
      </p:sp>
      <p:sp>
        <p:nvSpPr>
          <p:cNvPr id="100087" name="RouteB-Title"/>
          <p:cNvSpPr txBox="1"/>
          <p:nvPr/>
        </p:nvSpPr>
        <p:spPr>
          <a:xfrm xmlns:a="http://schemas.openxmlformats.org/drawingml/2006/main">
            <a:off x="6372000" y="2088000"/>
            <a:ext cx="4608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F211C"/>
                </a:solidFill>
                <a:latin typeface="Georgia"/>
                <a:ea typeface="Georgia"/>
              </a:rPr>
              <a:t>再证明可探索性</a:t>
            </a:r>
          </a:p>
        </p:txBody>
      </p:sp>
      <p:sp>
        <p:nvSpPr>
          <p:cNvPr id="100088" name="RouteB-Body"/>
          <p:cNvSpPr txBox="1"/>
          <p:nvPr/>
        </p:nvSpPr>
        <p:spPr>
          <a:xfrm xmlns:a="http://schemas.openxmlformats.org/drawingml/2006/main">
            <a:off x="6372000" y="2538000"/>
            <a:ext cx="4608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切到 CAR-M Designer、Preset Scenarios 或 Compare，展示 HER2-low、CD147 ECM degradation、cold tumor 等情境如何改变趋势。</a:t>
            </a:r>
          </a:p>
        </p:txBody>
      </p:sp>
      <p:sp>
        <p:nvSpPr>
          <p:cNvPr id="100090" name="RouteCue"/>
          <p:cNvSpPr txBox="1"/>
          <p:nvPr/>
        </p:nvSpPr>
        <p:spPr>
          <a:xfrm xmlns:a="http://schemas.openxmlformats.org/drawingml/2006/main">
            <a:off x="540000" y="4824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5423B"/>
                </a:solidFill>
                <a:latin typeface="Calibri"/>
                <a:ea typeface="Calibri"/>
              </a:rPr>
              <a:t>切网站：Scenarios → CAR-M → Metrics → Compare。每步只讲输入改变了什么、指标如何响应。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091" name="SlideNum08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08</a:t>
            </a:r>
          </a:p>
        </p:txBody>
      </p:sp>
      <p:sp>
        <p:nvSpPr>
          <p:cNvPr id="100092" name="Eyebrow8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关键工程点</a:t>
            </a:r>
          </a:p>
        </p:txBody>
      </p:sp>
      <p:sp>
        <p:nvSpPr>
          <p:cNvPr id="100093" name="Title8"/>
          <p:cNvSpPr txBox="1"/>
          <p:nvPr/>
        </p:nvSpPr>
        <p:spPr>
          <a:xfrm xmlns:a="http://schemas.openxmlformats.org/drawingml/2006/main">
            <a:off x="540000" y="450000"/>
            <a:ext cx="89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B"/>
                </a:solidFill>
                <a:latin typeface="Georgia"/>
                <a:ea typeface="Georgia"/>
              </a:rPr>
              <a:t>神经 surrogate 让极化模型进入实时 ABM</a:t>
            </a:r>
          </a:p>
        </p:txBody>
      </p:sp>
      <p:sp>
        <p:nvSpPr>
          <p:cNvPr id="100094" name="SurBox0"/>
          <p:cNvSpPr/>
          <p:nvPr/>
        </p:nvSpPr>
        <p:spPr>
          <a:xfrm xmlns:a="http://schemas.openxmlformats.org/drawingml/2006/main">
            <a:off x="540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SurText0-Title"/>
          <p:cNvSpPr txBox="1"/>
          <p:nvPr/>
        </p:nvSpPr>
        <p:spPr>
          <a:xfrm xmlns:a="http://schemas.openxmlformats.org/drawingml/2006/main">
            <a:off x="666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ODE 太慢</a:t>
            </a:r>
          </a:p>
        </p:txBody>
      </p:sp>
      <p:sp>
        <p:nvSpPr>
          <p:cNvPr id="100096" name="SurText0-Body"/>
          <p:cNvSpPr txBox="1"/>
          <p:nvPr/>
        </p:nvSpPr>
        <p:spPr>
          <a:xfrm xmlns:a="http://schemas.openxmlformats.org/drawingml/2006/main">
            <a:off x="666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每个细胞每帧都求解极化 ODE，会拖慢 100+ cell 的实时决策。</a:t>
            </a:r>
          </a:p>
        </p:txBody>
      </p:sp>
      <p:sp>
        <p:nvSpPr>
          <p:cNvPr id="100097" name="SurBox1"/>
          <p:cNvSpPr/>
          <p:nvPr/>
        </p:nvSpPr>
        <p:spPr>
          <a:xfrm xmlns:a="http://schemas.openxmlformats.org/drawingml/2006/main">
            <a:off x="3474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SurText1-Title"/>
          <p:cNvSpPr txBox="1"/>
          <p:nvPr/>
        </p:nvSpPr>
        <p:spPr>
          <a:xfrm xmlns:a="http://schemas.openxmlformats.org/drawingml/2006/main">
            <a:off x="3600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细胞因子</a:t>
            </a:r>
          </a:p>
        </p:txBody>
      </p:sp>
      <p:sp>
        <p:nvSpPr>
          <p:cNvPr id="100099" name="SurText1-Body"/>
          <p:cNvSpPr txBox="1"/>
          <p:nvPr/>
        </p:nvSpPr>
        <p:spPr>
          <a:xfrm xmlns:a="http://schemas.openxmlformats.org/drawingml/2006/main">
            <a:off x="3600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IFN-γ、IL-4、IL-10、TGF-β 等局部信号输入模型。</a:t>
            </a:r>
          </a:p>
        </p:txBody>
      </p:sp>
      <p:sp>
        <p:nvSpPr>
          <p:cNvPr id="100100" name="SurBox2"/>
          <p:cNvSpPr/>
          <p:nvPr/>
        </p:nvSpPr>
        <p:spPr>
          <a:xfrm xmlns:a="http://schemas.openxmlformats.org/drawingml/2006/main">
            <a:off x="6408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2A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SurText2-Title"/>
          <p:cNvSpPr txBox="1"/>
          <p:nvPr/>
        </p:nvSpPr>
        <p:spPr>
          <a:xfrm xmlns:a="http://schemas.openxmlformats.org/drawingml/2006/main">
            <a:off x="6534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M1 / M2</a:t>
            </a:r>
          </a:p>
        </p:txBody>
      </p:sp>
      <p:sp>
        <p:nvSpPr>
          <p:cNvPr id="100102" name="SurText2-Body"/>
          <p:cNvSpPr txBox="1"/>
          <p:nvPr/>
        </p:nvSpPr>
        <p:spPr>
          <a:xfrm xmlns:a="http://schemas.openxmlformats.org/drawingml/2006/main">
            <a:off x="6534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输出极化分数，并参与吞噬概率和细胞行为更新。</a:t>
            </a:r>
          </a:p>
        </p:txBody>
      </p:sp>
      <p:sp>
        <p:nvSpPr>
          <p:cNvPr id="100103" name="SurBox3"/>
          <p:cNvSpPr/>
          <p:nvPr/>
        </p:nvSpPr>
        <p:spPr>
          <a:xfrm xmlns:a="http://schemas.openxmlformats.org/drawingml/2006/main">
            <a:off x="9342000" y="2268000"/>
            <a:ext cx="2358000" cy="21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5"/>
          </a:solidFill>
          <a:ln xmlns:a="http://schemas.openxmlformats.org/drawingml/2006/main">
            <a:solidFill>
              <a:srgbClr val="4D5B5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4" name="SurText3-Title"/>
          <p:cNvSpPr txBox="1"/>
          <p:nvPr/>
        </p:nvSpPr>
        <p:spPr>
          <a:xfrm xmlns:a="http://schemas.openxmlformats.org/drawingml/2006/main">
            <a:off x="9468000" y="2538000"/>
            <a:ext cx="2106000" cy="4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B"/>
                </a:solidFill>
                <a:latin typeface="Georgia"/>
                <a:ea typeface="Georgia"/>
              </a:rPr>
              <a:t>0.3ms</a:t>
            </a:r>
          </a:p>
        </p:txBody>
      </p:sp>
      <p:sp>
        <p:nvSpPr>
          <p:cNvPr id="100105" name="SurText3-Body"/>
          <p:cNvSpPr txBox="1"/>
          <p:nvPr/>
        </p:nvSpPr>
        <p:spPr>
          <a:xfrm xmlns:a="http://schemas.openxmlformats.org/drawingml/2006/main">
            <a:off x="9468000" y="2988000"/>
            <a:ext cx="2106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网站里可对比 ODE 约 847ms 与 surrogate 推理约 0.3ms。</a:t>
            </a:r>
          </a:p>
        </p:txBody>
      </p:sp>
      <p:sp>
        <p:nvSpPr>
          <p:cNvPr id="100106" name="SurCue"/>
          <p:cNvSpPr txBox="1"/>
          <p:nvPr/>
        </p:nvSpPr>
        <p:spPr>
          <a:xfrm xmlns:a="http://schemas.openxmlformats.org/drawingml/2006/main">
            <a:off x="540000" y="4896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DCD6C9"/>
                </a:solidFill>
                <a:latin typeface="Calibri"/>
                <a:ea typeface="Calibri"/>
              </a:rPr>
              <a:t>切网站：打开 AI 面板，运行 parameter sweep，说明这是为了实时交互而做的工程折中。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F211C"/>
        </a:solidFill>
      </p:bgPr>
    </p:bg>
    <p:spTree>
      <p:nvGrpSpPr>
        <p:cNvPr id="1" name=""/>
        <p:cNvGrpSpPr/>
        <p:nvPr/>
      </p:nvGrpSpPr>
      <p:grpSpPr/>
      <p:sp>
        <p:nvSpPr>
          <p:cNvPr id="100107" name="SlideNum09"/>
          <p:cNvSpPr txBox="1"/>
          <p:nvPr/>
        </p:nvSpPr>
        <p:spPr>
          <a:xfrm xmlns:a="http://schemas.openxmlformats.org/drawingml/2006/main">
            <a:off x="10476000" y="306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b="1">
                <a:solidFill>
                  <a:srgbClr val="DCD6C9"/>
                </a:solidFill>
                <a:latin typeface="Georgia"/>
                <a:ea typeface="Georgia"/>
              </a:rPr>
              <a:t>09</a:t>
            </a:r>
          </a:p>
        </p:txBody>
      </p:sp>
      <p:sp>
        <p:nvSpPr>
          <p:cNvPr id="100108" name="Eyebrow9"/>
          <p:cNvSpPr txBox="1"/>
          <p:nvPr/>
        </p:nvSpPr>
        <p:spPr>
          <a:xfrm xmlns:a="http://schemas.openxmlformats.org/drawingml/2006/main">
            <a:off x="540000" y="223200"/>
            <a:ext cx="648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63C0A8"/>
                </a:solidFill>
                <a:latin typeface="Consolas"/>
                <a:ea typeface="Consolas"/>
              </a:rPr>
              <a:t>最后一句</a:t>
            </a:r>
          </a:p>
        </p:txBody>
      </p:sp>
      <p:sp>
        <p:nvSpPr>
          <p:cNvPr id="100109" name="TakeawayFrame"/>
          <p:cNvSpPr/>
          <p:nvPr/>
        </p:nvSpPr>
        <p:spPr>
          <a:xfrm xmlns:a="http://schemas.openxmlformats.org/drawingml/2006/main">
            <a:off x="1260000" y="1620000"/>
            <a:ext cx="9648000" cy="26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11C"/>
          </a:solidFill>
          <a:ln xmlns:a="http://schemas.openxmlformats.org/drawingml/2006/main">
            <a:solidFill>
              <a:srgbClr val="63C0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TakeawayTitle"/>
          <p:cNvSpPr txBox="1"/>
          <p:nvPr/>
        </p:nvSpPr>
        <p:spPr>
          <a:xfrm xmlns:a="http://schemas.openxmlformats.org/drawingml/2006/main">
            <a:off x="1584000" y="2034000"/>
            <a:ext cx="90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FFFFB"/>
                </a:solidFill>
                <a:latin typeface="Georgia"/>
                <a:ea typeface="Georgia"/>
              </a:rPr>
              <a:t>让机制假设先在屏幕上跑起来</a:t>
            </a:r>
          </a:p>
        </p:txBody>
      </p:sp>
      <p:sp>
        <p:nvSpPr>
          <p:cNvPr id="100111" name="TakeawayLead"/>
          <p:cNvSpPr txBox="1"/>
          <p:nvPr/>
        </p:nvSpPr>
        <p:spPr>
          <a:xfrm xmlns:a="http://schemas.openxmlformats.org/drawingml/2006/main">
            <a:off x="1872000" y="3042000"/>
            <a:ext cx="8496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DCD6C9"/>
                </a:solidFill>
                <a:latin typeface="Calibri"/>
                <a:ea typeface="Calibri"/>
              </a:rPr>
              <a:t>下一步不是宣称模型已预测临床，而是把更多实验数据接入参数校准，让 CAR-M 设计、TME 情境和验证实验形成闭环。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2026-07-07T13:28:08Z</dcterms:created>
  <cp:lastModifiedBy>OfficeCLI</cp:lastModifiedBy>
  <dcterms:modified xsi:type="dcterms:W3CDTF">2026-07-07T13:28:08Z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1.0.129</vt:lpwstr>
  </op:property>
  <op:property fmtid="{D5CDD505-2E9C-101B-9397-08002B2CF9AE}" pid="3" name="OfficeCLI.LastModified">
    <vt:lpwstr xmlns:vt="http://schemas.openxmlformats.org/officeDocument/2006/docPropsVTypes">2026-07-07T13:35:19Z</vt:lpwstr>
  </op:property>
</op:Properties>
</file>