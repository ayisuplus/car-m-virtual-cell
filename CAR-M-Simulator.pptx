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c84a2a8975d4f48" /><Relationship Type="http://schemas.openxmlformats.org/package/2006/relationships/metadata/core-properties" Target="/docProps/core.xml" Id="R81c893bf7d164d3d" /><Relationship Type="http://schemas.openxmlformats.org/officeDocument/2006/relationships/extended-properties" Target="/docProps/app.xml" Id="Rae14d105d23b46a2" /><Relationship Type="http://schemas.openxmlformats.org/officeDocument/2006/relationships/custom-properties" Target="/docProps/custom.xml" Id="Rf0ca576bc6724ce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dff833cc3ea4cda"/>
    <p:sldId id="257" r:id="R3bfc44e87c3c42ba"/>
    <p:sldId id="258" r:id="Ra9b4ab0154a24509"/>
    <p:sldId id="259" r:id="R23d5ea597ac24391"/>
    <p:sldId id="260" r:id="Rc26055b3142b4c9d"/>
    <p:sldId id="261" r:id="R670fc9a3860846a9"/>
    <p:sldId id="262" r:id="R46c9bd5de15749f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dff833cc3ea4cda" /><Relationship Type="http://schemas.openxmlformats.org/officeDocument/2006/relationships/slide" Target="/ppt/slides/slide2.xml" Id="R3bfc44e87c3c42ba" /><Relationship Type="http://schemas.openxmlformats.org/officeDocument/2006/relationships/slide" Target="/ppt/slides/slide3.xml" Id="Ra9b4ab0154a24509" /><Relationship Type="http://schemas.openxmlformats.org/officeDocument/2006/relationships/slide" Target="/ppt/slides/slide4.xml" Id="R23d5ea597ac24391" /><Relationship Type="http://schemas.openxmlformats.org/officeDocument/2006/relationships/slide" Target="/ppt/slides/slide5.xml" Id="Rc26055b3142b4c9d" /><Relationship Type="http://schemas.openxmlformats.org/officeDocument/2006/relationships/slide" Target="/ppt/slides/slide6.xml" Id="R670fc9a3860846a9" /><Relationship Type="http://schemas.openxmlformats.org/officeDocument/2006/relationships/slide" Target="/ppt/slides/slide7.xml" Id="R46c9bd5de15749f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43eaf8a3644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583b189b549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70d428cb641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4dfa3d87344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e8a504736487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5dcb32efdbc4ae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99a67ea4549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7775cd8c943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b4a67fde94a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49299a5ed44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bd94bb47940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e4d35715f4c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90e15203447e8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CAR-M Simulation Engine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720000" y="252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00CCFF"/>
                </a:solidFill>
                <a:latin typeface="Segoe UI"/>
                <a:ea typeface="Segoe UI"/>
              </a:rPr>
              <a:t>AI Virtual Cell Platform for Tumor Microenvironment Simulation</a:t>
            </a:r>
          </a:p>
        </p:txBody>
      </p:sp>
      <p:sp>
        <p:nvSpPr>
          <p:cNvPr id="100001" name="TextBox 3"/>
          <p:cNvSpPr txBox="1"/>
          <p:nvPr/>
        </p:nvSpPr>
        <p:spPr>
          <a:xfrm xmlns:a="http://schemas.openxmlformats.org/drawingml/2006/main">
            <a:off x="720000" y="360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4748B"/>
                </a:solidFill>
                <a:latin typeface="Segoe UI"/>
                <a:ea typeface="Segoe UI"/>
              </a:rPr>
              <a:t>Cambridge Short-Term Research Program  |  Computational Immunology &amp; Systems Biology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Challenge</a:t>
            </a:r>
          </a:p>
        </p:txBody>
      </p:sp>
      <p:sp>
        <p:nvSpPr>
          <p:cNvPr id="100002" name="TextBox 2"/>
          <p:cNvSpPr txBox="1"/>
          <p:nvPr/>
        </p:nvSpPr>
        <p:spPr>
          <a:xfrm xmlns:a="http://schemas.openxmlformats.org/drawingml/2006/main">
            <a:off x="720000" y="108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Segoe UI"/>
                <a:ea typeface="Segoe UI"/>
              </a:rPr>
              <a:t>Solid tumors resist current immunotherapies</a:t>
            </a:r>
          </a:p>
        </p:txBody>
      </p:sp>
      <p:sp>
        <p:nvSpPr>
          <p:cNvPr id="100003" name="TextBox 3"/>
          <p:cNvSpPr txBox="1"/>
          <p:nvPr/>
        </p:nvSpPr>
        <p:spPr>
          <a:xfrm xmlns:a="http://schemas.openxmlformats.org/drawingml/2006/main">
            <a:off x="720000" y="1980000"/>
            <a:ext cx="468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CAR-T cells struggle with:</a:t>
            </a:r>
          </a:p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- Immunosuppressive tumor microenvironment (TME)</a:t>
            </a:r>
          </a:p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- Limited infiltration into solid tumors</a:t>
            </a:r>
          </a:p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- Cytokine release syndrome (CRS)</a:t>
            </a:r>
          </a:p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- Antigen escape and heterogeneity</a:t>
            </a:r>
          </a:p>
        </p:txBody>
      </p:sp>
      <p:sp>
        <p:nvSpPr>
          <p:cNvPr id="100004" name="TextBox 4"/>
          <p:cNvSpPr txBox="1"/>
          <p:nvPr/>
        </p:nvSpPr>
        <p:spPr>
          <a:xfrm xmlns:a="http://schemas.openxmlformats.org/drawingml/2006/main">
            <a:off x="6120000" y="1980000"/>
            <a:ext cx="468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00FF88"/>
                </a:solidFill>
                <a:latin typeface="Segoe UI"/>
                <a:ea typeface="Segoe UI"/>
              </a:rPr>
              <a:t>CAR-Macrophages (CAR-M) offer:</a:t>
            </a:r>
          </a:p>
          <a:p xmlns:a="http://schemas.openxmlformats.org/drawingml/2006/main">
            <a:r>
              <a:rPr lang="en-US" sz="1400">
                <a:solidFill>
                  <a:srgbClr val="00FF88"/>
                </a:solidFill>
                <a:latin typeface="Segoe UI"/>
                <a:ea typeface="Segoe UI"/>
              </a:rPr>
              <a:t>- Natural solid tumor infiltration</a:t>
            </a:r>
          </a:p>
          <a:p xmlns:a="http://schemas.openxmlformats.org/drawingml/2006/main">
            <a:r>
              <a:rPr lang="en-US" sz="1400">
                <a:solidFill>
                  <a:srgbClr val="00FF88"/>
                </a:solidFill>
                <a:latin typeface="Segoe UI"/>
                <a:ea typeface="Segoe UI"/>
              </a:rPr>
              <a:t>- Phagocytosis + antigen presentation</a:t>
            </a:r>
          </a:p>
          <a:p xmlns:a="http://schemas.openxmlformats.org/drawingml/2006/main">
            <a:r>
              <a:rPr lang="en-US" sz="1400">
                <a:solidFill>
                  <a:srgbClr val="00FF88"/>
                </a:solidFill>
                <a:latin typeface="Segoe UI"/>
                <a:ea typeface="Segoe UI"/>
              </a:rPr>
              <a:t>- TME remodeling capability</a:t>
            </a:r>
          </a:p>
          <a:p xmlns:a="http://schemas.openxmlformats.org/drawingml/2006/main">
            <a:r>
              <a:rPr lang="en-US" sz="1400">
                <a:solidFill>
                  <a:srgbClr val="00FF88"/>
                </a:solidFill>
                <a:latin typeface="Segoe UI"/>
                <a:ea typeface="Segoe UI"/>
              </a:rPr>
              <a:t>- Zero Grade &gt;=3 CRS in CT-0508 trial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Four-Layer Architecture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720000" y="1260000"/>
            <a:ext cx="23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C66FF"/>
                </a:solidFill>
                <a:latin typeface="Segoe UI"/>
                <a:ea typeface="Segoe UI"/>
              </a:rPr>
              <a:t>Data Layer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720000" y="1800000"/>
            <a:ext cx="23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scRNA-seq (Scanpy)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TAM Atlas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KEGG/Reactome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AlphaFold3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3420000" y="1260000"/>
            <a:ext cx="23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FF88"/>
                </a:solidFill>
                <a:latin typeface="Segoe UI"/>
                <a:ea typeface="Segoe UI"/>
              </a:rPr>
              <a:t>AI/ML Layer</a:t>
            </a:r>
          </a:p>
        </p:txBody>
      </p:sp>
      <p:sp>
        <p:nvSpPr>
          <p:cNvPr id="100008" name="TextBox 5"/>
          <p:cNvSpPr txBox="1"/>
          <p:nvPr/>
        </p:nvSpPr>
        <p:spPr>
          <a:xfrm xmlns:a="http://schemas.openxmlformats.org/drawingml/2006/main">
            <a:off x="3420000" y="1800000"/>
            <a:ext cx="23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scVI-tools (VAE)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CellForge Multi-Agent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Neural Surrogate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PyTorch</a:t>
            </a:r>
          </a:p>
        </p:txBody>
      </p:sp>
      <p:sp>
        <p:nvSpPr>
          <p:cNvPr id="100009" name="TextBox 6"/>
          <p:cNvSpPr txBox="1"/>
          <p:nvPr/>
        </p:nvSpPr>
        <p:spPr>
          <a:xfrm xmlns:a="http://schemas.openxmlformats.org/drawingml/2006/main">
            <a:off x="6120000" y="1260000"/>
            <a:ext cx="23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CCFF"/>
                </a:solidFill>
                <a:latin typeface="Segoe UI"/>
                <a:ea typeface="Segoe UI"/>
              </a:rPr>
              <a:t>Simulation Layer</a:t>
            </a:r>
          </a:p>
        </p:txBody>
      </p:sp>
      <p:sp>
        <p:nvSpPr>
          <p:cNvPr id="100010" name="TextBox 7"/>
          <p:cNvSpPr txBox="1"/>
          <p:nvPr/>
        </p:nvSpPr>
        <p:spPr>
          <a:xfrm xmlns:a="http://schemas.openxmlformats.org/drawingml/2006/main">
            <a:off x="6120000" y="1800000"/>
            <a:ext cx="23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ABM Engine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BioFVM Diffusion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Polarization ODEs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Phagocytosis Model</a:t>
            </a:r>
          </a:p>
        </p:txBody>
      </p:sp>
      <p:sp>
        <p:nvSpPr>
          <p:cNvPr id="100011" name="TextBox 8"/>
          <p:cNvSpPr txBox="1"/>
          <p:nvPr/>
        </p:nvSpPr>
        <p:spPr>
          <a:xfrm xmlns:a="http://schemas.openxmlformats.org/drawingml/2006/main">
            <a:off x="8820000" y="1260000"/>
            <a:ext cx="23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CC00"/>
                </a:solidFill>
                <a:latin typeface="Segoe UI"/>
                <a:ea typeface="Segoe UI"/>
              </a:rPr>
              <a:t>Application Layer</a:t>
            </a:r>
          </a:p>
        </p:txBody>
      </p:sp>
      <p:sp>
        <p:nvSpPr>
          <p:cNvPr id="100012" name="TextBox 9"/>
          <p:cNvSpPr txBox="1"/>
          <p:nvPr/>
        </p:nvSpPr>
        <p:spPr>
          <a:xfrm xmlns:a="http://schemas.openxmlformats.org/drawingml/2006/main">
            <a:off x="8820000" y="1800000"/>
            <a:ext cx="23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React + TypeScript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Canvas 2D / Three.js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Chart.js Analytics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Real-time UI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Key Innovation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720000" y="108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0FF88"/>
                </a:solidFill>
                <a:latin typeface="Segoe UI"/>
                <a:ea typeface="Segoe UI"/>
              </a:rPr>
              <a:t>Neural Surrogate Acceleration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720000" y="1980000"/>
            <a:ext cx="100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94A3B8"/>
                </a:solidFill>
                <a:latin typeface="Segoe UI"/>
                <a:ea typeface="Segoe UI"/>
              </a:rPr>
              <a:t>Problem: ODE-based polarization modeling is too slow for real-time ABM</a:t>
            </a:r>
          </a:p>
          <a:p xmlns:a="http://schemas.openxmlformats.org/drawingml/2006/main">
            <a:r>
              <a:rPr lang="en-US" sz="1600">
                <a:solidFill>
                  <a:srgbClr val="94A3B8"/>
                </a:solidFill>
                <a:latin typeface="Segoe UI"/>
                <a:ea typeface="Segoe UI"/>
              </a:rPr>
              <a:t>with 100+ cells making decisions per frame.</a:t>
            </a:r>
          </a:p>
        </p:txBody>
      </p:sp>
      <p:sp>
        <p:nvSpPr>
          <p:cNvPr id="100015" name="TextBox 4"/>
          <p:cNvSpPr txBox="1"/>
          <p:nvPr/>
        </p:nvSpPr>
        <p:spPr>
          <a:xfrm xmlns:a="http://schemas.openxmlformats.org/drawingml/2006/main">
            <a:off x="720000" y="306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Segoe UI"/>
                <a:ea typeface="Segoe UI"/>
              </a:rPr>
              <a:t>Solution: PyTorch-trained feedforward network replaces ODE solver</a:t>
            </a:r>
          </a:p>
        </p:txBody>
      </p:sp>
      <p:sp>
        <p:nvSpPr>
          <p:cNvPr id="100016" name="TextBox 5"/>
          <p:cNvSpPr txBox="1"/>
          <p:nvPr/>
        </p:nvSpPr>
        <p:spPr>
          <a:xfrm xmlns:a="http://schemas.openxmlformats.org/drawingml/2006/main">
            <a:off x="720000" y="396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00CCFF"/>
                </a:solidFill>
                <a:latin typeface="Segoe UI"/>
                <a:ea typeface="Segoe UI"/>
              </a:rPr>
              <a:t>Accuracy: &gt;98%    Speed: 100x faster    Cells: 100+ per frame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Clinical Context</a:t>
            </a:r>
          </a:p>
        </p:txBody>
      </p:sp>
      <p:sp>
        <p:nvSpPr>
          <p:cNvPr id="100017" name="TextBox 2"/>
          <p:cNvSpPr txBox="1"/>
          <p:nvPr/>
        </p:nvSpPr>
        <p:spPr>
          <a:xfrm xmlns:a="http://schemas.openxmlformats.org/drawingml/2006/main">
            <a:off x="720000" y="108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0FF88"/>
                </a:solidFill>
                <a:latin typeface="Segoe UI"/>
                <a:ea typeface="Segoe UI"/>
              </a:rPr>
              <a:t>CT-0508: First-in-Human CAR-M Trial</a:t>
            </a:r>
          </a:p>
        </p:txBody>
      </p:sp>
      <p:sp>
        <p:nvSpPr>
          <p:cNvPr id="100018" name="TextBox 3"/>
          <p:cNvSpPr txBox="1"/>
          <p:nvPr/>
        </p:nvSpPr>
        <p:spPr>
          <a:xfrm xmlns:a="http://schemas.openxmlformats.org/drawingml/2006/main">
            <a:off x="720000" y="198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Segoe UI"/>
                <a:ea typeface="Segoe UI"/>
              </a:rPr>
              <a:t>14 Patients    0% CRS &gt;=G3    44% Stable Disease    -20% Best Response</a:t>
            </a:r>
          </a:p>
        </p:txBody>
      </p:sp>
      <p:sp>
        <p:nvSpPr>
          <p:cNvPr id="100019" name="TextBox 4"/>
          <p:cNvSpPr txBox="1"/>
          <p:nvPr/>
        </p:nvSpPr>
        <p:spPr>
          <a:xfrm xmlns:a="http://schemas.openxmlformats.org/drawingml/2006/main">
            <a:off x="720000" y="3060000"/>
            <a:ext cx="1008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CAR-M vs CAR-T Safety:</a:t>
            </a:r>
          </a:p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- CRS Grade &gt;=3: 0% vs ~5-30%</a:t>
            </a:r>
          </a:p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- ICANS/Neurotoxicity: Not reported vs ~10-30%</a:t>
            </a:r>
          </a:p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- Lymphodepletion: Not required vs Required</a:t>
            </a:r>
          </a:p>
          <a:p xmlns:a="http://schemas.openxmlformats.org/drawingml/2006/main">
            <a:r>
              <a:rPr lang="en-US" sz="1400">
                <a:solidFill>
                  <a:srgbClr val="94A3B8"/>
                </a:solidFill>
                <a:latin typeface="Segoe UI"/>
                <a:ea typeface="Segoe UI"/>
              </a:rPr>
              <a:t>- Solid tumor efficacy: Early signals vs Limited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Interactive Platform</a:t>
            </a:r>
          </a:p>
        </p:txBody>
      </p:sp>
      <p:sp>
        <p:nvSpPr>
          <p:cNvPr id="100020" name="TextBox 2"/>
          <p:cNvSpPr txBox="1"/>
          <p:nvPr/>
        </p:nvSpPr>
        <p:spPr>
          <a:xfrm xmlns:a="http://schemas.openxmlformats.org/drawingml/2006/main">
            <a:off x="720000" y="108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0CCFF"/>
                </a:solidFill>
                <a:latin typeface="Segoe UI"/>
                <a:ea typeface="Segoe UI"/>
              </a:rPr>
              <a:t>What Our Platform Delivers</a:t>
            </a:r>
          </a:p>
        </p:txBody>
      </p:sp>
      <p:sp>
        <p:nvSpPr>
          <p:cNvPr id="100021" name="TextBox 3"/>
          <p:cNvSpPr txBox="1"/>
          <p:nvPr/>
        </p:nvSpPr>
        <p:spPr>
          <a:xfrm xmlns:a="http://schemas.openxmlformats.org/drawingml/2006/main">
            <a:off x="720000" y="1980000"/>
            <a:ext cx="1008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Real-time Agent-Based Simulation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- 4 cell types: CAR-M, M1, M2, Tumor, CD8+ T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- 9 cytokine factors with diffusion fields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- Adjustable CAR parameters and TME conditions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3D Cell Visualization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- AI-generated .glb models (Meshy)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- Interactive rotation and zoom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Interactive Scientific Diagrams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- CAR structure with hover tooltips</a:t>
            </a:r>
          </a:p>
          <a:p xmlns:a="http://schemas.openxmlformats.org/drawingml/2006/main">
            <a:r>
              <a:rPr lang="en-US" sz="1300">
                <a:solidFill>
                  <a:srgbClr val="94A3B8"/>
                </a:solidFill>
                <a:latin typeface="Segoe UI"/>
                <a:ea typeface="Segoe UI"/>
              </a:rPr>
              <a:t>- Phagocytosis signaling pathway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References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720000" y="1260000"/>
            <a:ext cx="1008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1. Zhang Z et al. AI Virtual Tumor: From Cell Composition to Ecosystem Modeling. Immunity &amp; Inflammation, 2026.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2. Carisma Therapeutics. CT-0508: First-in-Human Anti-HER2 CAR-M Trial. ClinicalTrials.gov, 2023-2025.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3. Yale CellForge Team. CellForge: Multi-Agent Framework for Virtual Cell Design. bioRxiv, 2026.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4. Microsoft/Allen Institute. GigaTIME: Virtual TME Population Modeling. Cell, 2026.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5. Alibaba DAMO. Lingshu-Cell: Whole-Transcriptome Virtual Cell. Nature Methods, 2026.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6. Ghaffarizadeh A et al. PhysiCell: Open Source Cell Simulator. PLoS Comp Bio, 2018.</a:t>
            </a:r>
          </a:p>
          <a:p xmlns:a="http://schemas.openxmlformats.org/drawingml/2006/main">
            <a:r>
              <a:rPr lang="en-US" sz="1100">
                <a:solidFill>
                  <a:srgbClr val="94A3B8"/>
                </a:solidFill>
                <a:latin typeface="Segoe UI"/>
                <a:ea typeface="Segoe UI"/>
              </a:rPr>
              <a:t>7. CZI. Toward a Virtual Cell. Chan Zuckerberg Initiative, 2024.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2026-07-07T08:40:16Z</dcterms:created>
  <cp:lastModifiedBy>OfficeCLI</cp:lastModifiedBy>
  <dcterms:modified xsi:type="dcterms:W3CDTF">2026-07-07T08:40:16Z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1.0.129</vt:lpwstr>
  </op:property>
  <op:property fmtid="{D5CDD505-2E9C-101B-9397-08002B2CF9AE}" pid="3" name="OfficeCLI.LastModified">
    <vt:lpwstr xmlns:vt="http://schemas.openxmlformats.org/officeDocument/2006/docPropsVTypes">2026-07-07T08:42:31Z</vt:lpwstr>
  </op:property>
</op:Properties>
</file>